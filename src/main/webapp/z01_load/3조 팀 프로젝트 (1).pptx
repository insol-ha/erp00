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Noto Sans KR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A00BE4-8C4B-4234-AC55-E39A748338FE}">
  <a:tblStyle styleId="{56A00BE4-8C4B-4234-AC55-E39A748338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167E62-B190-402E-94EE-F5B1F6E92B8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NotoSansKR-bold.fntdata"/><Relationship Id="rId21" Type="http://schemas.openxmlformats.org/officeDocument/2006/relationships/slide" Target="slides/slide15.xml"/><Relationship Id="rId65" Type="http://schemas.openxmlformats.org/officeDocument/2006/relationships/font" Target="fonts/NotoSansKR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aa790878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aa790878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55efeb1b2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55efeb1b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55efeb1b2_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55efeb1b2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25b083bb9_3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25b083bb9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7555f163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7555f163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25b083bb9_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25b083bb9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55efeb1b2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55efeb1b2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773413f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773413f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55efeb1b2_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55efeb1b2_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25b083bb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25b083bb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25b083bb9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25b083bb9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773413f8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773413f8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7a5becdae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7a5becdae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773413f8a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773413f8a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384b4ac7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1384b4ac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7665a3660_5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7665a3660_5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5ad60565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5ad60565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55efeb1b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55efeb1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508c0ae62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1508c0ae62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75e2836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75e2836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7665a366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17665a366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75ce0a6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175ce0a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1386621b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1386621b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160b7563b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160b7563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1508c0ae6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1508c0ae6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1394f3cc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1394f3cc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1394f3cc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1394f3cc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15ad60565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15ad60565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1386621ba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1386621ba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1386621ba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1386621ba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1661e46650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1661e46650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14b9258608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14b9258608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14b9258608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14b9258608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14f79da82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14f79da82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14b925860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14b925860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1661e46650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1661e46650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160da178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160da178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60da17880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60da17880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16033d692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16033d692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6033d692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16033d692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16033d692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16033d692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160da1788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160da1788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160da178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160da178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1661e46650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1661e46650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1661e46650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1661e4665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1661e466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1661e466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160da17880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160da17880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160b7563b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160b7563b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164e188a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164e188a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160b7563b8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160b7563b8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164e188a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164e188a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160b7563b8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160b7563b8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14f79da82d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14f79da82d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14f79da82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14f79da82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16033d69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16033d69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1773413f8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1773413f8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14b925860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14b925860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Relationship Id="rId6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5" Type="http://schemas.openxmlformats.org/officeDocument/2006/relationships/image" Target="../media/image8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56.png"/><Relationship Id="rId5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Relationship Id="rId4" Type="http://schemas.openxmlformats.org/officeDocument/2006/relationships/image" Target="../media/image79.png"/><Relationship Id="rId5" Type="http://schemas.openxmlformats.org/officeDocument/2006/relationships/image" Target="../media/image75.png"/><Relationship Id="rId6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71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Relationship Id="rId4" Type="http://schemas.openxmlformats.org/officeDocument/2006/relationships/image" Target="../media/image78.png"/><Relationship Id="rId5" Type="http://schemas.openxmlformats.org/officeDocument/2006/relationships/image" Target="../media/image3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Relationship Id="rId4" Type="http://schemas.openxmlformats.org/officeDocument/2006/relationships/image" Target="../media/image77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9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3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81.png"/><Relationship Id="rId7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6.png"/><Relationship Id="rId4" Type="http://schemas.openxmlformats.org/officeDocument/2006/relationships/image" Target="../media/image60.png"/><Relationship Id="rId5" Type="http://schemas.openxmlformats.org/officeDocument/2006/relationships/image" Target="../media/image8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3.png"/><Relationship Id="rId4" Type="http://schemas.openxmlformats.org/officeDocument/2006/relationships/image" Target="../media/image5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9.png"/><Relationship Id="rId4" Type="http://schemas.openxmlformats.org/officeDocument/2006/relationships/image" Target="../media/image7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80.png"/><Relationship Id="rId6" Type="http://schemas.openxmlformats.org/officeDocument/2006/relationships/image" Target="../media/image6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1차 팀 프로젝트</a:t>
            </a:r>
            <a:endParaRPr b="1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3조 박지훈, 정기창, 하인솔, 김아랑, 송지연 (</a:t>
            </a:r>
            <a:r>
              <a:rPr lang="ko" sz="1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발표일  : 2024.11.13)</a:t>
            </a:r>
            <a:endParaRPr sz="13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B7B7B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01400" y="137842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771598" y="146812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KR"/>
              <a:buAutoNum type="arabicPeriod"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선정 및 개요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01400" y="213397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71598" y="222367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02.	</a:t>
            </a:r>
            <a:r>
              <a:rPr b="1" lang="ko" sz="12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회의록 및 역할 분담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01400" y="288952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71598" y="297922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03.	</a:t>
            </a: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캘린더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01400" y="364507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771598" y="373477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04.	</a:t>
            </a: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449125" y="137842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619323" y="146812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05.     메뉴 구조도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449125" y="213397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4619323" y="222367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06.	</a:t>
            </a:r>
            <a:r>
              <a:rPr b="1" lang="ko" sz="12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워크플로우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449125" y="288952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4619323" y="297922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07.	</a:t>
            </a:r>
            <a:r>
              <a:rPr b="1" lang="ko" sz="12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449125" y="3645075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EEEEEE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4619323" y="3734775"/>
            <a:ext cx="3007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08.	</a:t>
            </a:r>
            <a:r>
              <a:rPr b="1" lang="ko"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셀프 피드백</a:t>
            </a:r>
            <a:endParaRPr sz="12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-14084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291100"/>
            <a:ext cx="124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INDEX</a:t>
            </a:r>
            <a:endParaRPr b="1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513750" y="3166800"/>
            <a:ext cx="8116500" cy="163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692550" y="3293800"/>
            <a:ext cx="7758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highlight>
                  <a:srgbClr val="D9D9D9"/>
                </a:highlight>
                <a:latin typeface="Noto Sans KR"/>
                <a:ea typeface="Noto Sans KR"/>
                <a:cs typeface="Noto Sans KR"/>
                <a:sym typeface="Noto Sans KR"/>
              </a:rPr>
              <a:t>GS리테일의 모바일 앱 ‘우리동네GS’</a:t>
            </a: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가 지난달 국내 오프라인 유통사 앱 가운데 월간사용자 수(MAU) 1위로 올라섰다. 편의점이 주축이 되는 앱이 MAU에서 대형마트 앱을 앞지른 것은 이번이 처음이다. </a:t>
            </a:r>
            <a:r>
              <a:rPr b="1" lang="ko" sz="1000">
                <a:solidFill>
                  <a:srgbClr val="434343"/>
                </a:solidFill>
                <a:highlight>
                  <a:srgbClr val="D9D9D9"/>
                </a:highlight>
                <a:latin typeface="Noto Sans KR"/>
                <a:ea typeface="Noto Sans KR"/>
                <a:cs typeface="Noto Sans KR"/>
                <a:sym typeface="Noto Sans KR"/>
              </a:rPr>
              <a:t>오프라인 유통의 무게중심이 대형마트에서 편의점으로 이동함에 따라</a:t>
            </a: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소비자들의 모바일 앱 사용 패턴에도 변화가 생긴 것으로 풀이된다. GS리테일은 모바일 앱을 바탕으로 O4O(online for offline·오프라인을 위한 온라인) 전략도 대폭 강화한다는 방침이다.</a:t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송영찬 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기자, "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그 앱엔 뭐가 있길래… 이마트 이긴 ‘GS25’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", 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한경뉴스, 2023.10.24</a:t>
            </a:r>
            <a:endParaRPr sz="800">
              <a:solidFill>
                <a:srgbClr val="434343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868" y="1493788"/>
            <a:ext cx="3832163" cy="12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-104635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선정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535450" y="298750"/>
            <a:ext cx="60948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ko" sz="10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GS25를 더 재미있게, GS더프레시를 더 신선하게</a:t>
            </a:r>
            <a:endParaRPr sz="105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무엇이든 잘 사고, 누구든 잘 살아가는 곳</a:t>
            </a:r>
            <a:endParaRPr sz="105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b="11324" l="28676" r="28676" t="11324"/>
          <a:stretch/>
        </p:blipFill>
        <p:spPr>
          <a:xfrm>
            <a:off x="5957125" y="1395313"/>
            <a:ext cx="1475775" cy="14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4852650" y="1068300"/>
            <a:ext cx="3549000" cy="33678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5151950" y="1242900"/>
            <a:ext cx="31314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swot 분석</a:t>
            </a:r>
            <a:endParaRPr b="1" sz="25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- 강점 : 브랜드 인지도 높음, </a:t>
            </a: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서비스</a:t>
            </a: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제공</a:t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- 약점 : 경쟁앱과 차별성 부족</a:t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- 기회 : 배달 서비스 성장,협업 및 제휴 확장</a:t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- 위협 : 배달 플랫폼 위주 , 경쟁 심화</a:t>
            </a:r>
            <a:endParaRPr b="1" sz="1300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-18883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00" y="771500"/>
            <a:ext cx="4327803" cy="397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5821350" y="1607388"/>
            <a:ext cx="29607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102150" y="1709100"/>
            <a:ext cx="23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2011년 GS 나만의 냉장고 앱 출시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-104635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선정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00" y="1467675"/>
            <a:ext cx="4984574" cy="93868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300" y="3098735"/>
            <a:ext cx="4984575" cy="142774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108" name="Google Shape;108;p17"/>
          <p:cNvSpPr/>
          <p:nvPr/>
        </p:nvSpPr>
        <p:spPr>
          <a:xfrm>
            <a:off x="5821350" y="3376013"/>
            <a:ext cx="2960700" cy="9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 rot="5400000">
            <a:off x="2718075" y="2592200"/>
            <a:ext cx="371100" cy="32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6020550" y="3526250"/>
            <a:ext cx="256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빠른 O4O전환을 통한 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오프라인 유통사 MAU 1위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249975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강점(Strengths), 기회(Opportunities)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25" y="1142825"/>
            <a:ext cx="4596776" cy="202891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25" y="3450787"/>
            <a:ext cx="4596774" cy="1272913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49975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약점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Opportunities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),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위협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Threats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-104635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선정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518650" y="1607400"/>
            <a:ext cx="15660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6102150" y="1709100"/>
            <a:ext cx="23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경쟁 심화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821350" y="3679888"/>
            <a:ext cx="29607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214313" rotWithShape="0" algn="bl" dir="5400000" dist="19050">
              <a:srgbClr val="B7B7B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6102150" y="3781600"/>
            <a:ext cx="23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경쟁 브랜드와 차별화 필요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6717700" y="1628700"/>
            <a:ext cx="1412400" cy="723000"/>
          </a:xfrm>
          <a:prstGeom prst="roundRect">
            <a:avLst>
              <a:gd fmla="val 18779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슬라이드 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배너 클릭시 이동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-18883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311700" y="331150"/>
            <a:ext cx="70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18942" l="0" r="0" t="3326"/>
          <a:stretch/>
        </p:blipFill>
        <p:spPr>
          <a:xfrm>
            <a:off x="3250175" y="226350"/>
            <a:ext cx="2874350" cy="508863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cxnSp>
        <p:nvCxnSpPr>
          <p:cNvPr id="133" name="Google Shape;133;p19"/>
          <p:cNvCxnSpPr/>
          <p:nvPr/>
        </p:nvCxnSpPr>
        <p:spPr>
          <a:xfrm>
            <a:off x="4409100" y="1736700"/>
            <a:ext cx="19194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4" name="Google Shape;134;p19"/>
          <p:cNvCxnSpPr/>
          <p:nvPr/>
        </p:nvCxnSpPr>
        <p:spPr>
          <a:xfrm>
            <a:off x="6083900" y="424800"/>
            <a:ext cx="9054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" name="Google Shape;135;p19"/>
          <p:cNvSpPr/>
          <p:nvPr/>
        </p:nvSpPr>
        <p:spPr>
          <a:xfrm>
            <a:off x="7186875" y="331150"/>
            <a:ext cx="1549800" cy="1026900"/>
          </a:xfrm>
          <a:prstGeom prst="roundRect">
            <a:avLst>
              <a:gd fmla="val 14259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마이페이지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장바구니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회원정보 확인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839400" y="2351700"/>
            <a:ext cx="1412400" cy="723000"/>
          </a:xfrm>
          <a:prstGeom prst="roundRect">
            <a:avLst>
              <a:gd fmla="val 19139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아이콘 형태의 기능 선택시 이동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 rot="10800000">
            <a:off x="2380975" y="2713200"/>
            <a:ext cx="14124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" name="Google Shape;138;p19"/>
          <p:cNvSpPr/>
          <p:nvPr/>
        </p:nvSpPr>
        <p:spPr>
          <a:xfrm>
            <a:off x="472800" y="3538600"/>
            <a:ext cx="2145600" cy="1238700"/>
          </a:xfrm>
          <a:prstGeom prst="roundRect">
            <a:avLst>
              <a:gd fmla="val 12993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매장검색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재고찾기(매장검색)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나만의 냉장고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-"/>
            </a:pP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주문내역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9" name="Google Shape;139;p19"/>
          <p:cNvCxnSpPr/>
          <p:nvPr/>
        </p:nvCxnSpPr>
        <p:spPr>
          <a:xfrm>
            <a:off x="1545600" y="3147500"/>
            <a:ext cx="0" cy="318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9"/>
          <p:cNvSpPr/>
          <p:nvPr/>
        </p:nvSpPr>
        <p:spPr>
          <a:xfrm>
            <a:off x="3146950" y="2204000"/>
            <a:ext cx="3080700" cy="2721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-13632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311700" y="331150"/>
            <a:ext cx="120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주제선정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8988" y="152400"/>
            <a:ext cx="3366577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38" y="1307375"/>
            <a:ext cx="5008149" cy="3683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-13451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구현목표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3">
            <a:alphaModFix/>
          </a:blip>
          <a:srcRect b="42379" l="0" r="25283" t="0"/>
          <a:stretch/>
        </p:blipFill>
        <p:spPr>
          <a:xfrm>
            <a:off x="311700" y="1110662"/>
            <a:ext cx="4063550" cy="37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9075" y="2765238"/>
            <a:ext cx="3671825" cy="21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8357" t="59695"/>
          <a:stretch/>
        </p:blipFill>
        <p:spPr>
          <a:xfrm>
            <a:off x="4589075" y="258813"/>
            <a:ext cx="4321949" cy="22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기능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249975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정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1900"/>
            <a:ext cx="1422900" cy="9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39950"/>
            <a:ext cx="3575064" cy="27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9425" y="254875"/>
            <a:ext cx="2725500" cy="28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6">
            <a:alphaModFix/>
          </a:blip>
          <a:srcRect b="0" l="960" r="0" t="0"/>
          <a:stretch/>
        </p:blipFill>
        <p:spPr>
          <a:xfrm>
            <a:off x="5405950" y="2270900"/>
            <a:ext cx="3403074" cy="2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/>
          <p:nvPr/>
        </p:nvSpPr>
        <p:spPr>
          <a:xfrm>
            <a:off x="6602325" y="1321988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7042275" y="1362038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데이터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7651175" y="8638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-12908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역할분담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488875" y="1167900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488875" y="1952976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88875" y="415486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488875" y="3412232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488875" y="2669599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3112875" y="1167900"/>
            <a:ext cx="50082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/ 회원가입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화면구현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및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3112875" y="1952988"/>
            <a:ext cx="50082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화면구현 및 코드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3112875" y="2661383"/>
            <a:ext cx="50082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매장검색/서비스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화면구현 및 코드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3112875" y="3412232"/>
            <a:ext cx="50082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고객만족도 조사, 결과 경향성 표시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화면구현 및 코드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112875" y="4154865"/>
            <a:ext cx="5008200" cy="546300"/>
          </a:xfrm>
          <a:prstGeom prst="roundRect">
            <a:avLst>
              <a:gd fmla="val 8761" name="adj"/>
            </a:avLst>
          </a:prstGeom>
          <a:solidFill>
            <a:schemeClr val="lt2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상품검색화면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화면구현 및 코드</a:t>
            </a:r>
            <a:endParaRPr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88" name="Google Shape;188;p23"/>
          <p:cNvCxnSpPr/>
          <p:nvPr/>
        </p:nvCxnSpPr>
        <p:spPr>
          <a:xfrm>
            <a:off x="1973650" y="1441100"/>
            <a:ext cx="9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9" name="Google Shape;189;p23"/>
          <p:cNvCxnSpPr/>
          <p:nvPr/>
        </p:nvCxnSpPr>
        <p:spPr>
          <a:xfrm>
            <a:off x="1973650" y="2294756"/>
            <a:ext cx="9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0" name="Google Shape;190;p23"/>
          <p:cNvCxnSpPr/>
          <p:nvPr/>
        </p:nvCxnSpPr>
        <p:spPr>
          <a:xfrm>
            <a:off x="1973650" y="2942792"/>
            <a:ext cx="9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1" name="Google Shape;191;p23"/>
          <p:cNvCxnSpPr/>
          <p:nvPr/>
        </p:nvCxnSpPr>
        <p:spPr>
          <a:xfrm>
            <a:off x="1973650" y="3685421"/>
            <a:ext cx="9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2" name="Google Shape;192;p23"/>
          <p:cNvCxnSpPr/>
          <p:nvPr/>
        </p:nvCxnSpPr>
        <p:spPr>
          <a:xfrm>
            <a:off x="1973650" y="4428050"/>
            <a:ext cx="9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4"/>
          <p:cNvGraphicFramePr/>
          <p:nvPr/>
        </p:nvGraphicFramePr>
        <p:xfrm>
          <a:off x="2391975" y="6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931675"/>
                <a:gridCol w="931675"/>
                <a:gridCol w="931675"/>
                <a:gridCol w="931675"/>
                <a:gridCol w="931675"/>
                <a:gridCol w="931675"/>
                <a:gridCol w="931675"/>
              </a:tblGrid>
              <a:tr h="3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11/6  수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11/7  목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11/8  금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11/9  토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11/10  일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11/11  월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11/12  화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 시작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매주 금요일 진행사항 검토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워크플로우 * 메뉴구조도 * 요구사항 정의서 작성</a:t>
                      </a:r>
                      <a:endParaRPr sz="10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</a:t>
                      </a: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피드백 메모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개인 일정 파악, 업로드0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4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4차 회의</a:t>
                      </a:r>
                      <a:endParaRPr sz="1000">
                        <a:highlight>
                          <a:schemeClr val="accent4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11/13  수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11/14  목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11/15  금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11/16  토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11/17  일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11/18  월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11/19  화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highlight>
                            <a:schemeClr val="accent4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1차 발표</a:t>
                      </a:r>
                      <a:endParaRPr sz="1000">
                        <a:solidFill>
                          <a:schemeClr val="dk1"/>
                        </a:solidFill>
                        <a:highlight>
                          <a:schemeClr val="accent4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팀회의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주간목표설정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피드백반영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방향설정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ppt자료작성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웹페이지 추가사항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9900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팀회의</a:t>
                      </a:r>
                      <a:endParaRPr sz="1000">
                        <a:highlight>
                          <a:srgbClr val="FF9900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11/20  수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11/21  목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11/22  금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11/23  토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11/24  일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11/25 월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11/26 화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highlight>
                            <a:schemeClr val="accent4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r>
                        <a:rPr lang="ko" sz="1000">
                          <a:solidFill>
                            <a:schemeClr val="dk1"/>
                          </a:solidFill>
                          <a:highlight>
                            <a:schemeClr val="accent4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 발표</a:t>
                      </a:r>
                      <a:endParaRPr sz="1000">
                        <a:highlight>
                          <a:schemeClr val="accent4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매주 금요일 진행사항 검토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4"/>
          <p:cNvSpPr/>
          <p:nvPr/>
        </p:nvSpPr>
        <p:spPr>
          <a:xfrm>
            <a:off x="-635400" y="291100"/>
            <a:ext cx="29115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311700" y="32350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캘린더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311700" y="3168725"/>
            <a:ext cx="1964400" cy="16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한 것 (빨간색)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안 한 것 (검은색)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추가한 것 (파랑색)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*개인 일정으로 진행 못한 것은 피드백 페이지에 작성 부탁드려요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208225" y="1095475"/>
            <a:ext cx="1883100" cy="21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11/01 - 1차 회의 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(템플릿 역할 분담)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11/04 - 2차 회의 (주제 선정)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11/05 - 3차 회의 (기능 분석)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11/06 - 프로젝트 시작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/>
          <p:nvPr/>
        </p:nvSpPr>
        <p:spPr>
          <a:xfrm>
            <a:off x="-291800" y="291100"/>
            <a:ext cx="29115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graphicFrame>
        <p:nvGraphicFramePr>
          <p:cNvPr id="207" name="Google Shape;207;p25"/>
          <p:cNvGraphicFramePr/>
          <p:nvPr/>
        </p:nvGraphicFramePr>
        <p:xfrm>
          <a:off x="368600" y="10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788300"/>
                <a:gridCol w="1088350"/>
                <a:gridCol w="1088350"/>
                <a:gridCol w="1088350"/>
                <a:gridCol w="1088350"/>
                <a:gridCol w="1088350"/>
                <a:gridCol w="1088350"/>
                <a:gridCol w="1088350"/>
              </a:tblGrid>
              <a:tr h="39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11.6 (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11.7(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11.8(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금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11.9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(토)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11.10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(일)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11.11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(월)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11.12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(화)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아랑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사이트 분석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메뉴구조도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요구사항정의서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워크플로우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메뉴구조도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요구사항정의서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워크플로우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4차 회의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 전 검토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인솔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gs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매장/위치 홈페이지 분석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지역선택,시/군/구,동매장명 검색 품만들기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지역선택,시/군/구,동매장명 검색 품만들기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highlight>
                            <a:srgbClr val="D9D9D9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메뉴구조도</a:t>
                      </a:r>
                      <a:endParaRPr sz="900">
                        <a:highlight>
                          <a:srgbClr val="D9D9D9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highlight>
                            <a:srgbClr val="D9D9D9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요구사항정의서</a:t>
                      </a:r>
                      <a:endParaRPr sz="900">
                        <a:highlight>
                          <a:srgbClr val="D9D9D9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highlight>
                            <a:srgbClr val="D9D9D9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워크플로우</a:t>
                      </a:r>
                      <a:endParaRPr sz="900">
                        <a:highlight>
                          <a:srgbClr val="D9D9D9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메뉴구조도 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요구사항정의서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워크플로우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재고리스트(DB)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 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행사상품 입력란 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차별화상품 입력란 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조건문 사용해서 해당 상품 출력,발표자료 작성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가격과 키워드 입력시 정보 출력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가격과 키워드 입력시 정보 출력,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발표자료 수정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기창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일정계획표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메뉴구조도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워크플로우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결제창구현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 코드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테이블생성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피드백 메모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개인 일정 파악, 업로드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highlight>
                            <a:srgbClr val="FFAB40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4차 회의</a:t>
                      </a:r>
                      <a:endParaRPr sz="900">
                        <a:highlight>
                          <a:srgbClr val="FFAB40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상품구매화면구현-코드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결제내용화면</a:t>
                      </a:r>
                      <a:endParaRPr sz="900">
                        <a:solidFill>
                          <a:srgbClr val="0000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구현할 기능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메인 화면 </a:t>
                      </a:r>
                      <a:endParaRPr sz="900">
                        <a:solidFill>
                          <a:srgbClr val="0000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지훈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사이트 분석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DB연동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DB연동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PC고장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메뉴구조도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워크플로우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5"/>
          <p:cNvSpPr txBox="1"/>
          <p:nvPr/>
        </p:nvSpPr>
        <p:spPr>
          <a:xfrm>
            <a:off x="311700" y="32350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1주차 개인 목표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26"/>
          <p:cNvGraphicFramePr/>
          <p:nvPr/>
        </p:nvGraphicFramePr>
        <p:xfrm>
          <a:off x="368600" y="10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788300"/>
                <a:gridCol w="1088350"/>
                <a:gridCol w="1088350"/>
                <a:gridCol w="1088350"/>
                <a:gridCol w="1088350"/>
                <a:gridCol w="1088350"/>
                <a:gridCol w="1088350"/>
                <a:gridCol w="1088350"/>
              </a:tblGrid>
              <a:tr h="39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11.13 (수)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11.14(목)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11.15(금)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11.16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(토)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11.17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(일)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11.18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(월)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11.19</a:t>
                      </a: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(화)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아랑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*팀 회의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 마무리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sql 테이블 작성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jsp와 연동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피피티 수정, 제출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피피티 픽스일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셀프 피드백 작성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인솔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sql 테이블 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GS25 객체만들기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jsp와 연동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jsp와 연동 수정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 재고 등록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sql테이블 만들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*팀 회의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-DB연동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-jsp로 화면구현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-jsp로 화면구현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-발표 자료 작성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-jsp 화면 구현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-제출전 수정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-제출전 검토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기창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000000"/>
                          </a:solidFill>
                          <a:highlight>
                            <a:srgbClr val="FFAB40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1차 발표</a:t>
                      </a:r>
                      <a:endParaRPr sz="800">
                        <a:solidFill>
                          <a:srgbClr val="000000"/>
                        </a:solidFill>
                        <a:highlight>
                          <a:srgbClr val="FFAB40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피드백반영</a:t>
                      </a:r>
                      <a:endParaRPr sz="8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수정</a:t>
                      </a:r>
                      <a:endParaRPr sz="8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*팀 회의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-sql테이블작성</a:t>
                      </a:r>
                      <a:b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-sql과 자바 연결</a:t>
                      </a:r>
                      <a:endParaRPr sz="8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-웹사이트발전 사항고민해보기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-jsp에서 sql 불러오기</a:t>
                      </a:r>
                      <a:endParaRPr sz="8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-등록/수정/기능 구현</a:t>
                      </a:r>
                      <a:endParaRPr sz="8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휴일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결제용 가상체크카드로 결제프로세스 만들어보기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-폼 데이터 sql 저장</a:t>
                      </a: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-다음 폼으로 데이터 전달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ppt작성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발표전 검토</a:t>
                      </a:r>
                      <a:endParaRPr sz="8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미구현코드 완성</a:t>
                      </a:r>
                      <a:endParaRPr sz="8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지훈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로그인,회원가입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화면구현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화면전환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화면전환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DB연동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DB연동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관리자페이지제작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DB연동</a:t>
                      </a:r>
                      <a:endParaRPr sz="9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관리자페이지제작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관리자페이지제작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로그인상세수정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회원가입상세수정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관리자페이지제작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로그인상세수정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회원가입상세수정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6"/>
          <p:cNvSpPr/>
          <p:nvPr/>
        </p:nvSpPr>
        <p:spPr>
          <a:xfrm>
            <a:off x="-291800" y="291100"/>
            <a:ext cx="29115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311700" y="32350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주차 개인 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-7113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graphicFrame>
        <p:nvGraphicFramePr>
          <p:cNvPr id="221" name="Google Shape;221;p27"/>
          <p:cNvGraphicFramePr/>
          <p:nvPr/>
        </p:nvGraphicFramePr>
        <p:xfrm>
          <a:off x="327013" y="11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910500"/>
                <a:gridCol w="1679025"/>
                <a:gridCol w="2447450"/>
                <a:gridCol w="1851475"/>
                <a:gridCol w="701175"/>
                <a:gridCol w="900350"/>
              </a:tblGrid>
              <a:tr h="54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요구사항(기능)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상세설명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ID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중요도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페이지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id, pwd 입력 및 확인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입력된 정보 DB에서 확인 후 상황에 맞게 출력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P_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0001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회원가입페이지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 입력 및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확인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입력오류 확인 수정 후 정보 DB에 저장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P_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0002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 찾기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 입력 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입력된 아이디 확인 후 화면 출력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P_0003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찾기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 입력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분실시 개인정보로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새 비밀번호 입력 및 저장 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P_0004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관리자로그인창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관리자권한 id 생성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 데이터 관리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P_0005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관리정보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" name="Google Shape;222;p27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277950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-7113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graphicFrame>
        <p:nvGraphicFramePr>
          <p:cNvPr id="229" name="Google Shape;229;p28"/>
          <p:cNvGraphicFramePr/>
          <p:nvPr/>
        </p:nvGraphicFramePr>
        <p:xfrm>
          <a:off x="327013" y="112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910500"/>
                <a:gridCol w="1679025"/>
                <a:gridCol w="2447450"/>
                <a:gridCol w="1851475"/>
                <a:gridCol w="847800"/>
                <a:gridCol w="753725"/>
              </a:tblGrid>
              <a:tr h="54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요구사항(기능)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상세설명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ID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중요도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09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 시/군/구 동 선택 점포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_0001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1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DB에 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저장된 점포리스트 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조회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_0002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9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재고검색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재고검색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 검색된 지역에 점포내 재고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_0003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DB에 저장된 점포리스트 데이터 조회 후 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점포에 있는 재고 조회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_0004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8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277950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>
            <a:off x="-7113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277950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39" name="Google Shape;239;p29"/>
          <p:cNvGraphicFramePr/>
          <p:nvPr/>
        </p:nvGraphicFramePr>
        <p:xfrm>
          <a:off x="328288" y="115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910225"/>
                <a:gridCol w="1678525"/>
                <a:gridCol w="2446725"/>
                <a:gridCol w="1850925"/>
                <a:gridCol w="847525"/>
                <a:gridCol w="753500"/>
              </a:tblGrid>
              <a:tr h="55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요구사항(기능)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상세설명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ID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중요도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6226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행사상품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행사 상품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 키워드 검색시 해당 관련 상품 출력 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</a:t>
                      </a: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_0001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5867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검색란 구현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 버튼 클릭시 검색 기능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S_0002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7507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차별화 상품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가격과 키워드를 입력하여 해당 상품 출력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가격과 해당 키워드에 맞게끔 상품 출력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S_0003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6016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검색란, 가격대 구현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 버튼 클릭시 선택한 가격대와 키워드를 동시 검색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S_0004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최상</a:t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/>
          <p:nvPr/>
        </p:nvSpPr>
        <p:spPr>
          <a:xfrm>
            <a:off x="-7113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graphicFrame>
        <p:nvGraphicFramePr>
          <p:cNvPr id="245" name="Google Shape;245;p30"/>
          <p:cNvGraphicFramePr/>
          <p:nvPr/>
        </p:nvGraphicFramePr>
        <p:xfrm>
          <a:off x="327013" y="105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1082850"/>
                <a:gridCol w="1506675"/>
                <a:gridCol w="2447450"/>
                <a:gridCol w="1851475"/>
                <a:gridCol w="847800"/>
                <a:gridCol w="753725"/>
              </a:tblGrid>
              <a:tr h="46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요구사항(기능)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상세설명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ID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중요도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5235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상품구매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구매물품 장바구니 등록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구매물품을 목록에 담아서 한번에 결제처리 할수 있는 기능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_0001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624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결제정보 전달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구매 물품의 수량, 가격, 구매시간정보를 JSP로 전달하며 해당 페이지에서 결제처리하는 기능 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_0002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최상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5964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결제창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결제내용표시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상품구매페이지에서 전달받은 데이터가 바르게 표시되는지 확인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_0003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624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결제수단선택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결제수단에 따라 필요한 정보를 입력할수 있게 하고, 결제과정은 암호화된 데이터를 주고받도록 설정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_0004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최상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5235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멤버십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멤버십 등급 설정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최근 세달간 구매금액 혹은 결제횟수를 기준치에 따라 멤버십 등급을 설정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_0005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523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멤버십 혜택 설정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멤버십 등급에 따라 할인, 적립, 추가혜택 제공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_0006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6" name="Google Shape;246;p30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277950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/>
        </p:nvSpPr>
        <p:spPr>
          <a:xfrm>
            <a:off x="-7113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graphicFrame>
        <p:nvGraphicFramePr>
          <p:cNvPr id="253" name="Google Shape;253;p31"/>
          <p:cNvGraphicFramePr/>
          <p:nvPr/>
        </p:nvGraphicFramePr>
        <p:xfrm>
          <a:off x="280550" y="117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{56A00BE4-8C4B-4234-AC55-E39A748338FE}</a:tableStyleId>
              </a:tblPr>
              <a:tblGrid>
                <a:gridCol w="910500"/>
                <a:gridCol w="1679025"/>
                <a:gridCol w="2447450"/>
                <a:gridCol w="1851475"/>
                <a:gridCol w="847800"/>
                <a:gridCol w="753725"/>
              </a:tblGrid>
              <a:tr h="54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요구사항(기능)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상세설명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ID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중요도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1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Q&amp;A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키워드 검색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‘제목’,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‘내용’,‘제목, 내용’을 선택한 후 검색창에 키워드로 검색하는 기능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K_0001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05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제품만족도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순서 정렬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‘베스트순’,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‘최신순’으로 순서 정렬 기능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K_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0002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키워드 검색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검색창에 키워드로 검색하는 기능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K_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0003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별점 기준 분류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별점 5개, 4개, 3개, 2개, 1개, 0개로 분류해서 해당 값의 글만 보여주는 기능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K_</a:t>
                      </a: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0004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평균 막대 그래프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고객의 만족도를 반영해서 평균값으로 막대 그래프를 구현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K_0005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31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277950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구조도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272775" y="1938175"/>
            <a:ext cx="10797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구매수량선택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1962400" y="2686600"/>
            <a:ext cx="13659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실패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4759450" y="2697825"/>
            <a:ext cx="40947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본인인증-&gt;약관동의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4759450" y="4215125"/>
            <a:ext cx="40947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가입완료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272775" y="2697825"/>
            <a:ext cx="13659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성공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25009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272775" y="1178275"/>
            <a:ext cx="85842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메인화면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69" name="Google Shape;269;p32"/>
          <p:cNvCxnSpPr/>
          <p:nvPr/>
        </p:nvCxnSpPr>
        <p:spPr>
          <a:xfrm flipH="1">
            <a:off x="1895300" y="1609450"/>
            <a:ext cx="15000" cy="3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2"/>
          <p:cNvCxnSpPr/>
          <p:nvPr/>
        </p:nvCxnSpPr>
        <p:spPr>
          <a:xfrm>
            <a:off x="1259175" y="23777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2"/>
          <p:cNvCxnSpPr/>
          <p:nvPr/>
        </p:nvCxnSpPr>
        <p:spPr>
          <a:xfrm>
            <a:off x="2575525" y="2377788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32"/>
          <p:cNvSpPr/>
          <p:nvPr/>
        </p:nvSpPr>
        <p:spPr>
          <a:xfrm>
            <a:off x="311700" y="1938050"/>
            <a:ext cx="30504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73" name="Google Shape;273;p32"/>
          <p:cNvCxnSpPr/>
          <p:nvPr/>
        </p:nvCxnSpPr>
        <p:spPr>
          <a:xfrm>
            <a:off x="6806800" y="2377788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32"/>
          <p:cNvSpPr/>
          <p:nvPr/>
        </p:nvSpPr>
        <p:spPr>
          <a:xfrm>
            <a:off x="1962550" y="3435150"/>
            <a:ext cx="13659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ID, FW찾기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75" name="Google Shape;275;p32"/>
          <p:cNvCxnSpPr/>
          <p:nvPr/>
        </p:nvCxnSpPr>
        <p:spPr>
          <a:xfrm>
            <a:off x="2568888" y="3131075"/>
            <a:ext cx="1800" cy="2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2"/>
          <p:cNvCxnSpPr/>
          <p:nvPr/>
        </p:nvCxnSpPr>
        <p:spPr>
          <a:xfrm>
            <a:off x="6793275" y="317906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2"/>
          <p:cNvSpPr/>
          <p:nvPr/>
        </p:nvSpPr>
        <p:spPr>
          <a:xfrm>
            <a:off x="4762225" y="3457600"/>
            <a:ext cx="40947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정보입력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78" name="Google Shape;278;p32"/>
          <p:cNvCxnSpPr/>
          <p:nvPr/>
        </p:nvCxnSpPr>
        <p:spPr>
          <a:xfrm>
            <a:off x="6793275" y="387495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2"/>
          <p:cNvCxnSpPr/>
          <p:nvPr/>
        </p:nvCxnSpPr>
        <p:spPr>
          <a:xfrm>
            <a:off x="6793275" y="16180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32"/>
          <p:cNvSpPr/>
          <p:nvPr/>
        </p:nvSpPr>
        <p:spPr>
          <a:xfrm>
            <a:off x="4732275" y="1947100"/>
            <a:ext cx="41220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회원가입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81" name="Google Shape;281;p32"/>
          <p:cNvCxnSpPr>
            <a:stCxn id="274" idx="3"/>
            <a:endCxn id="280" idx="1"/>
          </p:cNvCxnSpPr>
          <p:nvPr/>
        </p:nvCxnSpPr>
        <p:spPr>
          <a:xfrm flipH="1" rot="10800000">
            <a:off x="3328450" y="2167050"/>
            <a:ext cx="1403700" cy="14880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2"/>
          <p:cNvCxnSpPr/>
          <p:nvPr/>
        </p:nvCxnSpPr>
        <p:spPr>
          <a:xfrm flipH="1" rot="10800000">
            <a:off x="3367900" y="2163825"/>
            <a:ext cx="6699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2"/>
          <p:cNvSpPr txBox="1"/>
          <p:nvPr/>
        </p:nvSpPr>
        <p:spPr>
          <a:xfrm>
            <a:off x="4214325" y="1663338"/>
            <a:ext cx="38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실패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3535325" y="1672388"/>
            <a:ext cx="38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성공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1825600" y="4010675"/>
            <a:ext cx="170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찾기 실패시 비회원으로 인식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91" name="Google Shape;291;p33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구조도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272775" y="1550225"/>
            <a:ext cx="19728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매장검색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47115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동 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68842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점포검색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68842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점포 </a:t>
            </a: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272775" y="3829550"/>
            <a:ext cx="85842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매장과 매장에 있는 재고를 보여줌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47115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동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272775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지역 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272775" y="3069775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지역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2538800" y="1550225"/>
            <a:ext cx="63183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재고있는 매장 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01" name="Google Shape;301;p33"/>
          <p:cNvCxnSpPr>
            <a:stCxn id="292" idx="2"/>
            <a:endCxn id="298" idx="0"/>
          </p:cNvCxnSpPr>
          <p:nvPr/>
        </p:nvCxnSpPr>
        <p:spPr>
          <a:xfrm>
            <a:off x="1259175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3"/>
          <p:cNvCxnSpPr>
            <a:stCxn id="293" idx="2"/>
            <a:endCxn id="297" idx="0"/>
          </p:cNvCxnSpPr>
          <p:nvPr/>
        </p:nvCxnSpPr>
        <p:spPr>
          <a:xfrm>
            <a:off x="56979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33"/>
          <p:cNvCxnSpPr>
            <a:stCxn id="294" idx="2"/>
            <a:endCxn id="295" idx="0"/>
          </p:cNvCxnSpPr>
          <p:nvPr/>
        </p:nvCxnSpPr>
        <p:spPr>
          <a:xfrm>
            <a:off x="78706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3"/>
          <p:cNvCxnSpPr/>
          <p:nvPr/>
        </p:nvCxnSpPr>
        <p:spPr>
          <a:xfrm>
            <a:off x="56979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33"/>
          <p:cNvSpPr txBox="1"/>
          <p:nvPr>
            <p:ph idx="1" type="body"/>
          </p:nvPr>
        </p:nvSpPr>
        <p:spPr>
          <a:xfrm>
            <a:off x="25009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25388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시/군/구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25388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시/군/구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08" name="Google Shape;308;p33"/>
          <p:cNvCxnSpPr>
            <a:stCxn id="306" idx="2"/>
            <a:endCxn id="307" idx="0"/>
          </p:cNvCxnSpPr>
          <p:nvPr/>
        </p:nvCxnSpPr>
        <p:spPr>
          <a:xfrm>
            <a:off x="35252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3"/>
          <p:cNvCxnSpPr/>
          <p:nvPr/>
        </p:nvCxnSpPr>
        <p:spPr>
          <a:xfrm>
            <a:off x="35252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p33"/>
          <p:cNvCxnSpPr/>
          <p:nvPr/>
        </p:nvCxnSpPr>
        <p:spPr>
          <a:xfrm>
            <a:off x="1273150" y="2749738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33"/>
          <p:cNvCxnSpPr/>
          <p:nvPr/>
        </p:nvCxnSpPr>
        <p:spPr>
          <a:xfrm>
            <a:off x="78706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3"/>
          <p:cNvCxnSpPr/>
          <p:nvPr/>
        </p:nvCxnSpPr>
        <p:spPr>
          <a:xfrm>
            <a:off x="5697900" y="35095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3"/>
          <p:cNvCxnSpPr/>
          <p:nvPr/>
        </p:nvCxnSpPr>
        <p:spPr>
          <a:xfrm>
            <a:off x="7870600" y="35095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3"/>
          <p:cNvCxnSpPr/>
          <p:nvPr/>
        </p:nvCxnSpPr>
        <p:spPr>
          <a:xfrm>
            <a:off x="3525200" y="35095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3"/>
          <p:cNvCxnSpPr/>
          <p:nvPr/>
        </p:nvCxnSpPr>
        <p:spPr>
          <a:xfrm>
            <a:off x="1273150" y="350951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구조도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2" name="Google Shape;322;p34"/>
          <p:cNvSpPr txBox="1"/>
          <p:nvPr>
            <p:ph idx="1" type="body"/>
          </p:nvPr>
        </p:nvSpPr>
        <p:spPr>
          <a:xfrm>
            <a:off x="25009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923251" y="2574703"/>
            <a:ext cx="2515500" cy="601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상품 검색란 (search form)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4" name="Google Shape;324;p34"/>
          <p:cNvCxnSpPr>
            <a:stCxn id="323" idx="2"/>
            <a:endCxn id="325" idx="0"/>
          </p:cNvCxnSpPr>
          <p:nvPr/>
        </p:nvCxnSpPr>
        <p:spPr>
          <a:xfrm>
            <a:off x="2181001" y="3175903"/>
            <a:ext cx="4200" cy="61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4"/>
          <p:cNvSpPr/>
          <p:nvPr/>
        </p:nvSpPr>
        <p:spPr>
          <a:xfrm>
            <a:off x="1425498" y="3795065"/>
            <a:ext cx="1519500" cy="7452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검색한 키워드로 해당 상품 정보 출력 (result)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563675" y="1210551"/>
            <a:ext cx="3243300" cy="74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행사상품(navbar)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7" name="Google Shape;327;p34"/>
          <p:cNvCxnSpPr>
            <a:stCxn id="326" idx="2"/>
            <a:endCxn id="323" idx="0"/>
          </p:cNvCxnSpPr>
          <p:nvPr/>
        </p:nvCxnSpPr>
        <p:spPr>
          <a:xfrm flipH="1">
            <a:off x="2181125" y="1955751"/>
            <a:ext cx="4200" cy="618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34"/>
          <p:cNvSpPr/>
          <p:nvPr/>
        </p:nvSpPr>
        <p:spPr>
          <a:xfrm>
            <a:off x="4291832" y="1210550"/>
            <a:ext cx="4191300" cy="6189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차별화상품 navbar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9" name="Google Shape;329;p34"/>
          <p:cNvCxnSpPr>
            <a:stCxn id="328" idx="2"/>
            <a:endCxn id="330" idx="0"/>
          </p:cNvCxnSpPr>
          <p:nvPr/>
        </p:nvCxnSpPr>
        <p:spPr>
          <a:xfrm>
            <a:off x="6387482" y="1829450"/>
            <a:ext cx="0" cy="519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34"/>
          <p:cNvSpPr/>
          <p:nvPr/>
        </p:nvSpPr>
        <p:spPr>
          <a:xfrm>
            <a:off x="4996223" y="2349012"/>
            <a:ext cx="2782500" cy="4854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검색란 (search form)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31" name="Google Shape;331;p34"/>
          <p:cNvCxnSpPr>
            <a:stCxn id="330" idx="2"/>
            <a:endCxn id="332" idx="0"/>
          </p:cNvCxnSpPr>
          <p:nvPr/>
        </p:nvCxnSpPr>
        <p:spPr>
          <a:xfrm>
            <a:off x="6387473" y="2834412"/>
            <a:ext cx="0" cy="40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4"/>
          <p:cNvSpPr/>
          <p:nvPr/>
        </p:nvSpPr>
        <p:spPr>
          <a:xfrm>
            <a:off x="5404970" y="3242745"/>
            <a:ext cx="1965000" cy="4854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          가격대 입력란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5593515" y="4136504"/>
            <a:ext cx="1605300" cy="872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입력한 가격대와 키워드로 필터링하여 상품 출력(result)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34" name="Google Shape;334;p34"/>
          <p:cNvCxnSpPr>
            <a:stCxn id="332" idx="2"/>
            <a:endCxn id="333" idx="0"/>
          </p:cNvCxnSpPr>
          <p:nvPr/>
        </p:nvCxnSpPr>
        <p:spPr>
          <a:xfrm>
            <a:off x="6387470" y="3728145"/>
            <a:ext cx="8700" cy="40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구조도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272775" y="1938175"/>
            <a:ext cx="10797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구매수량선택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2634688" y="2697825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결제수단선택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4759450" y="2697813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할인/적립/멤버십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6884200" y="2697825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결제하기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2605775" y="3457588"/>
            <a:ext cx="8751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GS pay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2605775" y="4217500"/>
            <a:ext cx="62511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결제내역확인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5793650" y="3457600"/>
            <a:ext cx="958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멤버십혜택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1403050" y="2697825"/>
            <a:ext cx="10797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결제정보확인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9" name="Google Shape;349;p35"/>
          <p:cNvSpPr txBox="1"/>
          <p:nvPr>
            <p:ph idx="1" type="body"/>
          </p:nvPr>
        </p:nvSpPr>
        <p:spPr>
          <a:xfrm>
            <a:off x="25009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272775" y="1178275"/>
            <a:ext cx="85842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상품화면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51" name="Google Shape;351;p35"/>
          <p:cNvCxnSpPr/>
          <p:nvPr/>
        </p:nvCxnSpPr>
        <p:spPr>
          <a:xfrm>
            <a:off x="812625" y="16180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5"/>
          <p:cNvCxnSpPr>
            <a:endCxn id="345" idx="0"/>
          </p:cNvCxnSpPr>
          <p:nvPr/>
        </p:nvCxnSpPr>
        <p:spPr>
          <a:xfrm>
            <a:off x="3039725" y="3126388"/>
            <a:ext cx="3600" cy="3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5"/>
          <p:cNvCxnSpPr>
            <a:stCxn id="344" idx="2"/>
          </p:cNvCxnSpPr>
          <p:nvPr/>
        </p:nvCxnSpPr>
        <p:spPr>
          <a:xfrm>
            <a:off x="7870600" y="3137625"/>
            <a:ext cx="6000" cy="10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5"/>
          <p:cNvCxnSpPr/>
          <p:nvPr/>
        </p:nvCxnSpPr>
        <p:spPr>
          <a:xfrm>
            <a:off x="1961125" y="237785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5"/>
          <p:cNvCxnSpPr/>
          <p:nvPr/>
        </p:nvCxnSpPr>
        <p:spPr>
          <a:xfrm>
            <a:off x="3589450" y="23777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5"/>
          <p:cNvCxnSpPr/>
          <p:nvPr/>
        </p:nvCxnSpPr>
        <p:spPr>
          <a:xfrm>
            <a:off x="7870600" y="23777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35"/>
          <p:cNvSpPr/>
          <p:nvPr/>
        </p:nvSpPr>
        <p:spPr>
          <a:xfrm>
            <a:off x="1584350" y="1938038"/>
            <a:ext cx="72726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결제하러가기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58" name="Google Shape;358;p35"/>
          <p:cNvCxnSpPr/>
          <p:nvPr/>
        </p:nvCxnSpPr>
        <p:spPr>
          <a:xfrm>
            <a:off x="5730000" y="237785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35"/>
          <p:cNvSpPr/>
          <p:nvPr/>
        </p:nvSpPr>
        <p:spPr>
          <a:xfrm>
            <a:off x="3673650" y="3457588"/>
            <a:ext cx="8367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신용카드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60" name="Google Shape;360;p35"/>
          <p:cNvCxnSpPr/>
          <p:nvPr/>
        </p:nvCxnSpPr>
        <p:spPr>
          <a:xfrm>
            <a:off x="4108800" y="3137625"/>
            <a:ext cx="1800" cy="2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5"/>
          <p:cNvCxnSpPr/>
          <p:nvPr/>
        </p:nvCxnSpPr>
        <p:spPr>
          <a:xfrm>
            <a:off x="6236975" y="31272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35"/>
          <p:cNvSpPr/>
          <p:nvPr/>
        </p:nvSpPr>
        <p:spPr>
          <a:xfrm>
            <a:off x="4703125" y="3457600"/>
            <a:ext cx="958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할인/적립혜택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63" name="Google Shape;363;p35"/>
          <p:cNvCxnSpPr/>
          <p:nvPr/>
        </p:nvCxnSpPr>
        <p:spPr>
          <a:xfrm>
            <a:off x="5220650" y="31272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5"/>
          <p:cNvCxnSpPr/>
          <p:nvPr/>
        </p:nvCxnSpPr>
        <p:spPr>
          <a:xfrm>
            <a:off x="5220650" y="16180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/>
          <p:nvPr/>
        </p:nvSpPr>
        <p:spPr>
          <a:xfrm>
            <a:off x="-9830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구조도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272775" y="1550225"/>
            <a:ext cx="19728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Q&amp;A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25388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순서정렬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47115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키워드 검색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6884200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별점 기준 분류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25388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정보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68842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4711500" y="3829550"/>
            <a:ext cx="41454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* 키워드와 별점 필터는 동시 적용 불가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4711500" y="3069775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272775" y="2310000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글 종류 선택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72775" y="3069775"/>
            <a:ext cx="1972800" cy="439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키워드 입력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272775" y="3829550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질문 조회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25009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2538800" y="1550225"/>
            <a:ext cx="6318300" cy="439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제품 만족도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84" name="Google Shape;384;p36"/>
          <p:cNvCxnSpPr>
            <a:stCxn id="371" idx="2"/>
            <a:endCxn id="379" idx="0"/>
          </p:cNvCxnSpPr>
          <p:nvPr/>
        </p:nvCxnSpPr>
        <p:spPr>
          <a:xfrm>
            <a:off x="1259175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6"/>
          <p:cNvCxnSpPr>
            <a:stCxn id="380" idx="2"/>
            <a:endCxn id="381" idx="0"/>
          </p:cNvCxnSpPr>
          <p:nvPr/>
        </p:nvCxnSpPr>
        <p:spPr>
          <a:xfrm>
            <a:off x="1259175" y="35095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36"/>
          <p:cNvCxnSpPr>
            <a:stCxn id="372" idx="2"/>
            <a:endCxn id="375" idx="0"/>
          </p:cNvCxnSpPr>
          <p:nvPr/>
        </p:nvCxnSpPr>
        <p:spPr>
          <a:xfrm>
            <a:off x="35252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6"/>
          <p:cNvCxnSpPr>
            <a:stCxn id="373" idx="2"/>
            <a:endCxn id="378" idx="0"/>
          </p:cNvCxnSpPr>
          <p:nvPr/>
        </p:nvCxnSpPr>
        <p:spPr>
          <a:xfrm>
            <a:off x="56979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6"/>
          <p:cNvCxnSpPr>
            <a:stCxn id="374" idx="2"/>
            <a:endCxn id="376" idx="0"/>
          </p:cNvCxnSpPr>
          <p:nvPr/>
        </p:nvCxnSpPr>
        <p:spPr>
          <a:xfrm>
            <a:off x="7870600" y="27498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6"/>
          <p:cNvCxnSpPr/>
          <p:nvPr/>
        </p:nvCxnSpPr>
        <p:spPr>
          <a:xfrm>
            <a:off x="35252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36"/>
          <p:cNvCxnSpPr/>
          <p:nvPr/>
        </p:nvCxnSpPr>
        <p:spPr>
          <a:xfrm>
            <a:off x="56979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6"/>
          <p:cNvCxnSpPr/>
          <p:nvPr/>
        </p:nvCxnSpPr>
        <p:spPr>
          <a:xfrm>
            <a:off x="7870600" y="199002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36"/>
          <p:cNvSpPr/>
          <p:nvPr/>
        </p:nvSpPr>
        <p:spPr>
          <a:xfrm>
            <a:off x="2538800" y="3829550"/>
            <a:ext cx="1972800" cy="43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Noto Sans KR"/>
                <a:ea typeface="Noto Sans KR"/>
                <a:cs typeface="Noto Sans KR"/>
                <a:sym typeface="Noto Sans KR"/>
              </a:rPr>
              <a:t>평균 막대 그래프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idx="1" type="body"/>
          </p:nvPr>
        </p:nvSpPr>
        <p:spPr>
          <a:xfrm>
            <a:off x="2500975" y="394900"/>
            <a:ext cx="19080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-11550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워크플로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우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37"/>
          <p:cNvSpPr/>
          <p:nvPr/>
        </p:nvSpPr>
        <p:spPr>
          <a:xfrm>
            <a:off x="194800" y="3533863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37"/>
          <p:cNvSpPr/>
          <p:nvPr/>
        </p:nvSpPr>
        <p:spPr>
          <a:xfrm>
            <a:off x="4244188" y="1252842"/>
            <a:ext cx="1566300" cy="778950"/>
          </a:xfrm>
          <a:prstGeom prst="flowChartDecision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998575" y="14428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INDEX.JSP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03" name="Google Shape;403;p37"/>
          <p:cNvCxnSpPr>
            <a:endCxn id="404" idx="0"/>
          </p:cNvCxnSpPr>
          <p:nvPr/>
        </p:nvCxnSpPr>
        <p:spPr>
          <a:xfrm flipH="1">
            <a:off x="1494625" y="1828725"/>
            <a:ext cx="17400" cy="86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7"/>
          <p:cNvSpPr/>
          <p:nvPr/>
        </p:nvSpPr>
        <p:spPr>
          <a:xfrm>
            <a:off x="2364700" y="14428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2364700" y="2708600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비회원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7" name="Google Shape;407;p37"/>
          <p:cNvSpPr/>
          <p:nvPr/>
        </p:nvSpPr>
        <p:spPr>
          <a:xfrm>
            <a:off x="2364700" y="397437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4244200" y="2509330"/>
            <a:ext cx="1566300" cy="778950"/>
          </a:xfrm>
          <a:prstGeom prst="flowChartDecision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9" name="Google Shape;409;p37"/>
          <p:cNvSpPr/>
          <p:nvPr/>
        </p:nvSpPr>
        <p:spPr>
          <a:xfrm>
            <a:off x="7181350" y="26948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7181350" y="14452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주문검색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1" name="Google Shape;411;p37"/>
          <p:cNvSpPr/>
          <p:nvPr/>
        </p:nvSpPr>
        <p:spPr>
          <a:xfrm>
            <a:off x="7181350" y="397437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고객관리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2" name="Google Shape;412;p37"/>
          <p:cNvSpPr/>
          <p:nvPr/>
        </p:nvSpPr>
        <p:spPr>
          <a:xfrm>
            <a:off x="7181350" y="3334600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상품관리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7181350" y="20700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지점검색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7181350" y="8204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7181350" y="4569225"/>
            <a:ext cx="992100" cy="380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지점관리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16" name="Google Shape;416;p37"/>
          <p:cNvCxnSpPr/>
          <p:nvPr/>
        </p:nvCxnSpPr>
        <p:spPr>
          <a:xfrm rot="-5400000">
            <a:off x="1009300" y="3266600"/>
            <a:ext cx="645600" cy="290400"/>
          </a:xfrm>
          <a:prstGeom prst="bentConnector3">
            <a:avLst>
              <a:gd fmla="val -20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7"/>
          <p:cNvCxnSpPr>
            <a:stCxn id="418" idx="3"/>
            <a:endCxn id="407" idx="1"/>
          </p:cNvCxnSpPr>
          <p:nvPr/>
        </p:nvCxnSpPr>
        <p:spPr>
          <a:xfrm>
            <a:off x="1990675" y="2890525"/>
            <a:ext cx="374100" cy="12741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7"/>
          <p:cNvCxnSpPr>
            <a:stCxn id="418" idx="3"/>
            <a:endCxn id="405" idx="1"/>
          </p:cNvCxnSpPr>
          <p:nvPr/>
        </p:nvCxnSpPr>
        <p:spPr>
          <a:xfrm flipH="1" rot="10800000">
            <a:off x="1990675" y="1632925"/>
            <a:ext cx="374100" cy="1257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7"/>
          <p:cNvCxnSpPr>
            <a:stCxn id="404" idx="3"/>
            <a:endCxn id="406" idx="1"/>
          </p:cNvCxnSpPr>
          <p:nvPr/>
        </p:nvCxnSpPr>
        <p:spPr>
          <a:xfrm>
            <a:off x="1990600" y="2885000"/>
            <a:ext cx="374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37"/>
          <p:cNvSpPr/>
          <p:nvPr/>
        </p:nvSpPr>
        <p:spPr>
          <a:xfrm>
            <a:off x="4244188" y="3778180"/>
            <a:ext cx="1566300" cy="778950"/>
          </a:xfrm>
          <a:prstGeom prst="flowChartDecision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22" name="Google Shape;422;p37"/>
          <p:cNvCxnSpPr>
            <a:stCxn id="401" idx="3"/>
            <a:endCxn id="410" idx="1"/>
          </p:cNvCxnSpPr>
          <p:nvPr/>
        </p:nvCxnSpPr>
        <p:spPr>
          <a:xfrm flipH="1" rot="10800000">
            <a:off x="5810488" y="1635417"/>
            <a:ext cx="1371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7"/>
          <p:cNvCxnSpPr>
            <a:stCxn id="401" idx="3"/>
            <a:endCxn id="414" idx="1"/>
          </p:cNvCxnSpPr>
          <p:nvPr/>
        </p:nvCxnSpPr>
        <p:spPr>
          <a:xfrm flipH="1" rot="10800000">
            <a:off x="5810488" y="1010517"/>
            <a:ext cx="1371000" cy="631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7"/>
          <p:cNvCxnSpPr>
            <a:stCxn id="401" idx="3"/>
            <a:endCxn id="413" idx="1"/>
          </p:cNvCxnSpPr>
          <p:nvPr/>
        </p:nvCxnSpPr>
        <p:spPr>
          <a:xfrm>
            <a:off x="5810488" y="1642317"/>
            <a:ext cx="1371000" cy="618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7"/>
          <p:cNvCxnSpPr>
            <a:stCxn id="408" idx="3"/>
            <a:endCxn id="409" idx="1"/>
          </p:cNvCxnSpPr>
          <p:nvPr/>
        </p:nvCxnSpPr>
        <p:spPr>
          <a:xfrm flipH="1" rot="10800000">
            <a:off x="5810500" y="2885005"/>
            <a:ext cx="13707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37"/>
          <p:cNvCxnSpPr>
            <a:stCxn id="421" idx="3"/>
            <a:endCxn id="411" idx="1"/>
          </p:cNvCxnSpPr>
          <p:nvPr/>
        </p:nvCxnSpPr>
        <p:spPr>
          <a:xfrm flipH="1" rot="10800000">
            <a:off x="5810488" y="4164655"/>
            <a:ext cx="1371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37"/>
          <p:cNvCxnSpPr>
            <a:stCxn id="421" idx="3"/>
            <a:endCxn id="412" idx="1"/>
          </p:cNvCxnSpPr>
          <p:nvPr/>
        </p:nvCxnSpPr>
        <p:spPr>
          <a:xfrm flipH="1" rot="10800000">
            <a:off x="5810488" y="3524755"/>
            <a:ext cx="1371000" cy="6429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37"/>
          <p:cNvCxnSpPr>
            <a:stCxn id="421" idx="3"/>
            <a:endCxn id="415" idx="1"/>
          </p:cNvCxnSpPr>
          <p:nvPr/>
        </p:nvCxnSpPr>
        <p:spPr>
          <a:xfrm>
            <a:off x="5810488" y="4167655"/>
            <a:ext cx="1371000" cy="5919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7"/>
          <p:cNvCxnSpPr>
            <a:stCxn id="405" idx="3"/>
            <a:endCxn id="401" idx="1"/>
          </p:cNvCxnSpPr>
          <p:nvPr/>
        </p:nvCxnSpPr>
        <p:spPr>
          <a:xfrm>
            <a:off x="3356800" y="1633025"/>
            <a:ext cx="8874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37"/>
          <p:cNvCxnSpPr>
            <a:stCxn id="407" idx="3"/>
            <a:endCxn id="421" idx="1"/>
          </p:cNvCxnSpPr>
          <p:nvPr/>
        </p:nvCxnSpPr>
        <p:spPr>
          <a:xfrm>
            <a:off x="3356800" y="4164575"/>
            <a:ext cx="8874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37"/>
          <p:cNvCxnSpPr>
            <a:stCxn id="406" idx="3"/>
            <a:endCxn id="408" idx="1"/>
          </p:cNvCxnSpPr>
          <p:nvPr/>
        </p:nvCxnSpPr>
        <p:spPr>
          <a:xfrm>
            <a:off x="3356800" y="2898800"/>
            <a:ext cx="88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7"/>
          <p:cNvSpPr/>
          <p:nvPr/>
        </p:nvSpPr>
        <p:spPr>
          <a:xfrm>
            <a:off x="998575" y="2700325"/>
            <a:ext cx="992100" cy="380400"/>
          </a:xfrm>
          <a:prstGeom prst="rect">
            <a:avLst/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메인페이지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424363" y="1722400"/>
            <a:ext cx="15663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점포 검색 페이지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424363" y="2636925"/>
            <a:ext cx="1566300" cy="507900"/>
          </a:xfrm>
          <a:prstGeom prst="rect">
            <a:avLst/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(지역,시/군/구,동)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433413" y="3478775"/>
            <a:ext cx="1566300" cy="507900"/>
          </a:xfrm>
          <a:prstGeom prst="rect">
            <a:avLst/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매장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5252113" y="1931400"/>
            <a:ext cx="1566300" cy="507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조회 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2821963" y="2344850"/>
            <a:ext cx="1946550" cy="1080375"/>
          </a:xfrm>
          <a:prstGeom prst="flowChartDecision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조회여부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5252113" y="3226800"/>
            <a:ext cx="1566300" cy="507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조회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7153338" y="1931400"/>
            <a:ext cx="1566300" cy="507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있음 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7153338" y="3226800"/>
            <a:ext cx="1566300" cy="507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없음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44" name="Google Shape;444;p38"/>
          <p:cNvCxnSpPr>
            <a:stCxn id="436" idx="2"/>
            <a:endCxn id="437" idx="0"/>
          </p:cNvCxnSpPr>
          <p:nvPr/>
        </p:nvCxnSpPr>
        <p:spPr>
          <a:xfrm>
            <a:off x="1207513" y="2295100"/>
            <a:ext cx="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8"/>
          <p:cNvCxnSpPr/>
          <p:nvPr/>
        </p:nvCxnSpPr>
        <p:spPr>
          <a:xfrm>
            <a:off x="1207513" y="3150600"/>
            <a:ext cx="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8"/>
          <p:cNvCxnSpPr>
            <a:stCxn id="437" idx="3"/>
          </p:cNvCxnSpPr>
          <p:nvPr/>
        </p:nvCxnSpPr>
        <p:spPr>
          <a:xfrm flipH="1" rot="10800000">
            <a:off x="1990663" y="2888175"/>
            <a:ext cx="8313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38"/>
          <p:cNvCxnSpPr>
            <a:endCxn id="439" idx="1"/>
          </p:cNvCxnSpPr>
          <p:nvPr/>
        </p:nvCxnSpPr>
        <p:spPr>
          <a:xfrm flipH="1" rot="10800000">
            <a:off x="4324813" y="2185350"/>
            <a:ext cx="927300" cy="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38"/>
          <p:cNvCxnSpPr>
            <a:endCxn id="441" idx="1"/>
          </p:cNvCxnSpPr>
          <p:nvPr/>
        </p:nvCxnSpPr>
        <p:spPr>
          <a:xfrm>
            <a:off x="4424413" y="3078150"/>
            <a:ext cx="827700" cy="40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38"/>
          <p:cNvCxnSpPr>
            <a:stCxn id="439" idx="3"/>
            <a:endCxn id="442" idx="1"/>
          </p:cNvCxnSpPr>
          <p:nvPr/>
        </p:nvCxnSpPr>
        <p:spPr>
          <a:xfrm>
            <a:off x="6818413" y="2185350"/>
            <a:ext cx="3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38"/>
          <p:cNvCxnSpPr/>
          <p:nvPr/>
        </p:nvCxnSpPr>
        <p:spPr>
          <a:xfrm>
            <a:off x="6818413" y="3494638"/>
            <a:ext cx="3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2175050" y="394900"/>
            <a:ext cx="19080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-13570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53" name="Google Shape;453;p38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점포검색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/>
          <p:nvPr/>
        </p:nvSpPr>
        <p:spPr>
          <a:xfrm>
            <a:off x="-138135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59" name="Google Shape;459;p39"/>
          <p:cNvSpPr txBox="1"/>
          <p:nvPr/>
        </p:nvSpPr>
        <p:spPr>
          <a:xfrm>
            <a:off x="311700" y="331150"/>
            <a:ext cx="153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상품검색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383675" y="1326200"/>
            <a:ext cx="1303800" cy="6579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차별화 상품 검색 페이지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61" name="Google Shape;461;p39"/>
          <p:cNvCxnSpPr/>
          <p:nvPr/>
        </p:nvCxnSpPr>
        <p:spPr>
          <a:xfrm>
            <a:off x="1687475" y="2757650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39"/>
          <p:cNvSpPr/>
          <p:nvPr/>
        </p:nvSpPr>
        <p:spPr>
          <a:xfrm>
            <a:off x="2357375" y="2486000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키워드 입력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3" name="Google Shape;463;p39"/>
          <p:cNvSpPr txBox="1"/>
          <p:nvPr>
            <p:ph idx="1" type="body"/>
          </p:nvPr>
        </p:nvSpPr>
        <p:spPr>
          <a:xfrm>
            <a:off x="21456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383675" y="2486000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65" name="Google Shape;465;p39"/>
          <p:cNvCxnSpPr>
            <a:stCxn id="460" idx="2"/>
            <a:endCxn id="464" idx="0"/>
          </p:cNvCxnSpPr>
          <p:nvPr/>
        </p:nvCxnSpPr>
        <p:spPr>
          <a:xfrm>
            <a:off x="1035575" y="198410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39"/>
          <p:cNvSpPr/>
          <p:nvPr/>
        </p:nvSpPr>
        <p:spPr>
          <a:xfrm>
            <a:off x="6192738" y="2543462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가능?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67" name="Google Shape;467;p39"/>
          <p:cNvCxnSpPr/>
          <p:nvPr/>
        </p:nvCxnSpPr>
        <p:spPr>
          <a:xfrm>
            <a:off x="5687678" y="2754999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39"/>
          <p:cNvSpPr/>
          <p:nvPr/>
        </p:nvSpPr>
        <p:spPr>
          <a:xfrm>
            <a:off x="7474100" y="2542300"/>
            <a:ext cx="118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상품 출력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69" name="Google Shape;469;p39"/>
          <p:cNvCxnSpPr>
            <a:endCxn id="468" idx="1"/>
          </p:cNvCxnSpPr>
          <p:nvPr/>
        </p:nvCxnSpPr>
        <p:spPr>
          <a:xfrm>
            <a:off x="7175600" y="2756200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39"/>
          <p:cNvSpPr/>
          <p:nvPr/>
        </p:nvSpPr>
        <p:spPr>
          <a:xfrm>
            <a:off x="5092351" y="3738674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불가?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71" name="Google Shape;471;p39"/>
          <p:cNvCxnSpPr>
            <a:endCxn id="470" idx="1"/>
          </p:cNvCxnSpPr>
          <p:nvPr/>
        </p:nvCxnSpPr>
        <p:spPr>
          <a:xfrm flipH="1" rot="-5400000">
            <a:off x="4599901" y="3460124"/>
            <a:ext cx="715500" cy="26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39"/>
          <p:cNvCxnSpPr/>
          <p:nvPr/>
        </p:nvCxnSpPr>
        <p:spPr>
          <a:xfrm>
            <a:off x="6075329" y="3951385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39"/>
          <p:cNvSpPr/>
          <p:nvPr/>
        </p:nvSpPr>
        <p:spPr>
          <a:xfrm>
            <a:off x="3978863" y="2275275"/>
            <a:ext cx="1708800" cy="9618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조회여부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74" name="Google Shape;474;p39"/>
          <p:cNvCxnSpPr>
            <a:endCxn id="473" idx="1"/>
          </p:cNvCxnSpPr>
          <p:nvPr/>
        </p:nvCxnSpPr>
        <p:spPr>
          <a:xfrm>
            <a:off x="3661163" y="2754975"/>
            <a:ext cx="3177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39"/>
          <p:cNvSpPr/>
          <p:nvPr/>
        </p:nvSpPr>
        <p:spPr>
          <a:xfrm>
            <a:off x="6580525" y="3738675"/>
            <a:ext cx="217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검색된 상품이 없습니다.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2357375" y="3465500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가격대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77" name="Google Shape;477;p39"/>
          <p:cNvCxnSpPr>
            <a:stCxn id="464" idx="2"/>
            <a:endCxn id="476" idx="1"/>
          </p:cNvCxnSpPr>
          <p:nvPr/>
        </p:nvCxnSpPr>
        <p:spPr>
          <a:xfrm flipH="1" rot="-5400000">
            <a:off x="1343225" y="2724650"/>
            <a:ext cx="706500" cy="132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9"/>
          <p:cNvCxnSpPr>
            <a:stCxn id="476" idx="3"/>
          </p:cNvCxnSpPr>
          <p:nvPr/>
        </p:nvCxnSpPr>
        <p:spPr>
          <a:xfrm flipH="1" rot="10800000">
            <a:off x="3661175" y="3023750"/>
            <a:ext cx="736200" cy="71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0"/>
          <p:cNvSpPr/>
          <p:nvPr/>
        </p:nvSpPr>
        <p:spPr>
          <a:xfrm>
            <a:off x="-138135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84" name="Google Shape;484;p40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행사상품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384775" y="1419725"/>
            <a:ext cx="1816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행사 상품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검색 페이지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86" name="Google Shape;486;p40"/>
          <p:cNvCxnSpPr/>
          <p:nvPr/>
        </p:nvCxnSpPr>
        <p:spPr>
          <a:xfrm>
            <a:off x="1945025" y="2739525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7" name="Google Shape;487;p40"/>
          <p:cNvSpPr/>
          <p:nvPr/>
        </p:nvSpPr>
        <p:spPr>
          <a:xfrm>
            <a:off x="2614925" y="2467875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키워드 입력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641225" y="2467875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89" name="Google Shape;489;p40"/>
          <p:cNvCxnSpPr>
            <a:stCxn id="485" idx="2"/>
            <a:endCxn id="488" idx="0"/>
          </p:cNvCxnSpPr>
          <p:nvPr/>
        </p:nvCxnSpPr>
        <p:spPr>
          <a:xfrm>
            <a:off x="1293175" y="1966025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p40"/>
          <p:cNvSpPr/>
          <p:nvPr/>
        </p:nvSpPr>
        <p:spPr>
          <a:xfrm>
            <a:off x="6450288" y="2525337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가능?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1" name="Google Shape;491;p40"/>
          <p:cNvCxnSpPr/>
          <p:nvPr/>
        </p:nvCxnSpPr>
        <p:spPr>
          <a:xfrm>
            <a:off x="5945228" y="2736874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40"/>
          <p:cNvSpPr/>
          <p:nvPr/>
        </p:nvSpPr>
        <p:spPr>
          <a:xfrm>
            <a:off x="7731650" y="2524175"/>
            <a:ext cx="118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상품 출력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3" name="Google Shape;493;p40"/>
          <p:cNvCxnSpPr>
            <a:endCxn id="492" idx="1"/>
          </p:cNvCxnSpPr>
          <p:nvPr/>
        </p:nvCxnSpPr>
        <p:spPr>
          <a:xfrm>
            <a:off x="7433150" y="2738075"/>
            <a:ext cx="2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40"/>
          <p:cNvSpPr/>
          <p:nvPr/>
        </p:nvSpPr>
        <p:spPr>
          <a:xfrm>
            <a:off x="5349901" y="3720549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불가?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5" name="Google Shape;495;p40"/>
          <p:cNvCxnSpPr>
            <a:endCxn id="494" idx="1"/>
          </p:cNvCxnSpPr>
          <p:nvPr/>
        </p:nvCxnSpPr>
        <p:spPr>
          <a:xfrm flipH="1" rot="-5400000">
            <a:off x="4857451" y="3441999"/>
            <a:ext cx="715500" cy="26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40"/>
          <p:cNvCxnSpPr/>
          <p:nvPr/>
        </p:nvCxnSpPr>
        <p:spPr>
          <a:xfrm>
            <a:off x="6332879" y="3933260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40"/>
          <p:cNvSpPr/>
          <p:nvPr/>
        </p:nvSpPr>
        <p:spPr>
          <a:xfrm>
            <a:off x="4236413" y="2257150"/>
            <a:ext cx="1708800" cy="9618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조회여부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8" name="Google Shape;498;p40"/>
          <p:cNvCxnSpPr>
            <a:endCxn id="497" idx="1"/>
          </p:cNvCxnSpPr>
          <p:nvPr/>
        </p:nvCxnSpPr>
        <p:spPr>
          <a:xfrm>
            <a:off x="3918713" y="2736850"/>
            <a:ext cx="3177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40"/>
          <p:cNvSpPr/>
          <p:nvPr/>
        </p:nvSpPr>
        <p:spPr>
          <a:xfrm>
            <a:off x="6838075" y="3720550"/>
            <a:ext cx="217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</a:t>
            </a: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된 </a:t>
            </a: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</a:t>
            </a: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이 없습니다.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40"/>
          <p:cNvSpPr txBox="1"/>
          <p:nvPr>
            <p:ph idx="1" type="body"/>
          </p:nvPr>
        </p:nvSpPr>
        <p:spPr>
          <a:xfrm>
            <a:off x="2145675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"/>
          <p:cNvSpPr/>
          <p:nvPr/>
        </p:nvSpPr>
        <p:spPr>
          <a:xfrm>
            <a:off x="-19517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06" name="Google Shape;506;p41"/>
          <p:cNvSpPr txBox="1"/>
          <p:nvPr/>
        </p:nvSpPr>
        <p:spPr>
          <a:xfrm>
            <a:off x="311700" y="331150"/>
            <a:ext cx="76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결제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461700" y="113622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상품화면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08" name="Google Shape;508;p41"/>
          <p:cNvCxnSpPr/>
          <p:nvPr/>
        </p:nvCxnSpPr>
        <p:spPr>
          <a:xfrm>
            <a:off x="1765500" y="1409375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41"/>
          <p:cNvSpPr/>
          <p:nvPr/>
        </p:nvSpPr>
        <p:spPr>
          <a:xfrm>
            <a:off x="2435400" y="1137725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수량선택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6141100" y="3074825"/>
            <a:ext cx="1897200" cy="10941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결제수단선택</a:t>
            </a:r>
            <a:endParaRPr b="1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4409100" y="1137725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결제하기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12" name="Google Shape;512;p41"/>
          <p:cNvCxnSpPr/>
          <p:nvPr/>
        </p:nvCxnSpPr>
        <p:spPr>
          <a:xfrm>
            <a:off x="3739200" y="1407875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41"/>
          <p:cNvSpPr txBox="1"/>
          <p:nvPr/>
        </p:nvSpPr>
        <p:spPr>
          <a:xfrm>
            <a:off x="311700" y="4314450"/>
            <a:ext cx="3069300" cy="50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파란색:</a:t>
            </a:r>
            <a:r>
              <a:rPr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액션(클릭,입력,버튼,제출 등)이 있는 박스</a:t>
            </a:r>
            <a:r>
              <a:rPr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1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마름모 노란색:</a:t>
            </a:r>
            <a:r>
              <a:rPr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" sz="11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선택지가 존재하는 박스</a:t>
            </a:r>
            <a:endParaRPr sz="11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6437800" y="113622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JSP로 전송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15" name="Google Shape;515;p41"/>
          <p:cNvCxnSpPr/>
          <p:nvPr/>
        </p:nvCxnSpPr>
        <p:spPr>
          <a:xfrm>
            <a:off x="5712900" y="1409375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6" name="Google Shape;516;p41"/>
          <p:cNvSpPr/>
          <p:nvPr/>
        </p:nvSpPr>
        <p:spPr>
          <a:xfrm>
            <a:off x="6437800" y="210552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상품정보확인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17" name="Google Shape;517;p41"/>
          <p:cNvCxnSpPr>
            <a:stCxn id="514" idx="2"/>
            <a:endCxn id="516" idx="0"/>
          </p:cNvCxnSpPr>
          <p:nvPr/>
        </p:nvCxnSpPr>
        <p:spPr>
          <a:xfrm>
            <a:off x="7089700" y="1682525"/>
            <a:ext cx="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41"/>
          <p:cNvSpPr/>
          <p:nvPr/>
        </p:nvSpPr>
        <p:spPr>
          <a:xfrm>
            <a:off x="4409100" y="210552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전송된 내용 DB에 저장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19" name="Google Shape;519;p41"/>
          <p:cNvCxnSpPr>
            <a:stCxn id="516" idx="2"/>
          </p:cNvCxnSpPr>
          <p:nvPr/>
        </p:nvCxnSpPr>
        <p:spPr>
          <a:xfrm flipH="1">
            <a:off x="7088500" y="2651825"/>
            <a:ext cx="1200" cy="4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1"/>
          <p:cNvCxnSpPr>
            <a:stCxn id="514" idx="2"/>
          </p:cNvCxnSpPr>
          <p:nvPr/>
        </p:nvCxnSpPr>
        <p:spPr>
          <a:xfrm flipH="1">
            <a:off x="5060500" y="1682525"/>
            <a:ext cx="2029200" cy="4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41"/>
          <p:cNvSpPr/>
          <p:nvPr/>
        </p:nvSpPr>
        <p:spPr>
          <a:xfrm>
            <a:off x="4409100" y="334647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결제가능?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2" name="Google Shape;522;p41"/>
          <p:cNvCxnSpPr>
            <a:stCxn id="510" idx="1"/>
            <a:endCxn id="521" idx="3"/>
          </p:cNvCxnSpPr>
          <p:nvPr/>
        </p:nvCxnSpPr>
        <p:spPr>
          <a:xfrm rot="10800000">
            <a:off x="5713000" y="3619775"/>
            <a:ext cx="4281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41"/>
          <p:cNvSpPr/>
          <p:nvPr/>
        </p:nvSpPr>
        <p:spPr>
          <a:xfrm>
            <a:off x="6437200" y="448707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결제불가?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4" name="Google Shape;524;p41"/>
          <p:cNvCxnSpPr>
            <a:stCxn id="510" idx="2"/>
            <a:endCxn id="523" idx="0"/>
          </p:cNvCxnSpPr>
          <p:nvPr/>
        </p:nvCxnSpPr>
        <p:spPr>
          <a:xfrm flipH="1">
            <a:off x="7089100" y="4168925"/>
            <a:ext cx="600" cy="3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41"/>
          <p:cNvSpPr/>
          <p:nvPr/>
        </p:nvSpPr>
        <p:spPr>
          <a:xfrm>
            <a:off x="2435400" y="334647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결제진행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6" name="Google Shape;526;p41"/>
          <p:cNvCxnSpPr>
            <a:stCxn id="521" idx="0"/>
            <a:endCxn id="518" idx="2"/>
          </p:cNvCxnSpPr>
          <p:nvPr/>
        </p:nvCxnSpPr>
        <p:spPr>
          <a:xfrm rot="10800000">
            <a:off x="5061000" y="2651975"/>
            <a:ext cx="0" cy="69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41"/>
          <p:cNvCxnSpPr>
            <a:stCxn id="521" idx="1"/>
            <a:endCxn id="525" idx="3"/>
          </p:cNvCxnSpPr>
          <p:nvPr/>
        </p:nvCxnSpPr>
        <p:spPr>
          <a:xfrm rot="10800000">
            <a:off x="3739200" y="3619625"/>
            <a:ext cx="66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41"/>
          <p:cNvSpPr txBox="1"/>
          <p:nvPr>
            <p:ph idx="1" type="body"/>
          </p:nvPr>
        </p:nvSpPr>
        <p:spPr>
          <a:xfrm>
            <a:off x="1523225" y="394900"/>
            <a:ext cx="19080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9" name="Google Shape;529;p41"/>
          <p:cNvCxnSpPr>
            <a:endCxn id="523" idx="3"/>
          </p:cNvCxnSpPr>
          <p:nvPr/>
        </p:nvCxnSpPr>
        <p:spPr>
          <a:xfrm rot="5400000">
            <a:off x="7551700" y="3810725"/>
            <a:ext cx="1138800" cy="76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41"/>
          <p:cNvCxnSpPr>
            <a:stCxn id="510" idx="3"/>
          </p:cNvCxnSpPr>
          <p:nvPr/>
        </p:nvCxnSpPr>
        <p:spPr>
          <a:xfrm>
            <a:off x="8038300" y="3621875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/>
          <p:nvPr/>
        </p:nvSpPr>
        <p:spPr>
          <a:xfrm>
            <a:off x="-116407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36" name="Google Shape;536;p42"/>
          <p:cNvSpPr txBox="1"/>
          <p:nvPr/>
        </p:nvSpPr>
        <p:spPr>
          <a:xfrm>
            <a:off x="311700" y="331150"/>
            <a:ext cx="170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제품만족도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524538" y="1327625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제품 만족도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449838" y="3633125"/>
            <a:ext cx="14532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DB에 저장, 반영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9" name="Google Shape;539;p42"/>
          <p:cNvSpPr txBox="1"/>
          <p:nvPr>
            <p:ph idx="1" type="body"/>
          </p:nvPr>
        </p:nvSpPr>
        <p:spPr>
          <a:xfrm>
            <a:off x="231085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40" name="Google Shape;540;p42"/>
          <p:cNvCxnSpPr>
            <a:stCxn id="537" idx="2"/>
          </p:cNvCxnSpPr>
          <p:nvPr/>
        </p:nvCxnSpPr>
        <p:spPr>
          <a:xfrm>
            <a:off x="1176438" y="1873925"/>
            <a:ext cx="0" cy="39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42"/>
          <p:cNvSpPr/>
          <p:nvPr/>
        </p:nvSpPr>
        <p:spPr>
          <a:xfrm>
            <a:off x="2744938" y="1327588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순서 정렬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2" name="Google Shape;542;p42"/>
          <p:cNvSpPr/>
          <p:nvPr/>
        </p:nvSpPr>
        <p:spPr>
          <a:xfrm>
            <a:off x="2744938" y="3145038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별점 기준 분류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42"/>
          <p:cNvSpPr/>
          <p:nvPr/>
        </p:nvSpPr>
        <p:spPr>
          <a:xfrm>
            <a:off x="322038" y="2272625"/>
            <a:ext cx="1708800" cy="9618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만족도 폼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6430688" y="2308062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가능?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45" name="Google Shape;545;p42"/>
          <p:cNvCxnSpPr/>
          <p:nvPr/>
        </p:nvCxnSpPr>
        <p:spPr>
          <a:xfrm>
            <a:off x="5925628" y="2519599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42"/>
          <p:cNvSpPr/>
          <p:nvPr/>
        </p:nvSpPr>
        <p:spPr>
          <a:xfrm>
            <a:off x="7918726" y="2306888"/>
            <a:ext cx="9831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조회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47" name="Google Shape;547;p42"/>
          <p:cNvCxnSpPr/>
          <p:nvPr/>
        </p:nvCxnSpPr>
        <p:spPr>
          <a:xfrm>
            <a:off x="7413666" y="2520773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42"/>
          <p:cNvSpPr/>
          <p:nvPr/>
        </p:nvSpPr>
        <p:spPr>
          <a:xfrm>
            <a:off x="5330301" y="3503274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불가?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6818475" y="3502100"/>
            <a:ext cx="217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등록된 게시글이 없습니다.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50" name="Google Shape;550;p42"/>
          <p:cNvCxnSpPr>
            <a:endCxn id="548" idx="1"/>
          </p:cNvCxnSpPr>
          <p:nvPr/>
        </p:nvCxnSpPr>
        <p:spPr>
          <a:xfrm flipH="1" rot="-5400000">
            <a:off x="4837851" y="3224724"/>
            <a:ext cx="715500" cy="26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42"/>
          <p:cNvCxnSpPr/>
          <p:nvPr/>
        </p:nvCxnSpPr>
        <p:spPr>
          <a:xfrm>
            <a:off x="6313279" y="3715985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42"/>
          <p:cNvCxnSpPr>
            <a:stCxn id="543" idx="2"/>
            <a:endCxn id="538" idx="0"/>
          </p:cNvCxnSpPr>
          <p:nvPr/>
        </p:nvCxnSpPr>
        <p:spPr>
          <a:xfrm>
            <a:off x="1176438" y="3234425"/>
            <a:ext cx="0" cy="39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42"/>
          <p:cNvSpPr/>
          <p:nvPr/>
        </p:nvSpPr>
        <p:spPr>
          <a:xfrm>
            <a:off x="2744950" y="4053775"/>
            <a:ext cx="1616700" cy="5463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막대 그래프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54" name="Google Shape;554;p42"/>
          <p:cNvCxnSpPr>
            <a:stCxn id="541" idx="1"/>
            <a:endCxn id="553" idx="1"/>
          </p:cNvCxnSpPr>
          <p:nvPr/>
        </p:nvCxnSpPr>
        <p:spPr>
          <a:xfrm>
            <a:off x="2744938" y="1600738"/>
            <a:ext cx="600" cy="2726100"/>
          </a:xfrm>
          <a:prstGeom prst="bentConnector3">
            <a:avLst>
              <a:gd fmla="val -488020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5" name="Google Shape;555;p42"/>
          <p:cNvCxnSpPr>
            <a:stCxn id="538" idx="3"/>
          </p:cNvCxnSpPr>
          <p:nvPr/>
        </p:nvCxnSpPr>
        <p:spPr>
          <a:xfrm>
            <a:off x="1903038" y="3906275"/>
            <a:ext cx="54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2"/>
          <p:cNvCxnSpPr>
            <a:stCxn id="557" idx="1"/>
          </p:cNvCxnSpPr>
          <p:nvPr/>
        </p:nvCxnSpPr>
        <p:spPr>
          <a:xfrm flipH="1">
            <a:off x="2452138" y="2509463"/>
            <a:ext cx="2928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58" name="Google Shape;558;p42"/>
          <p:cNvCxnSpPr/>
          <p:nvPr/>
        </p:nvCxnSpPr>
        <p:spPr>
          <a:xfrm flipH="1">
            <a:off x="2452138" y="3416988"/>
            <a:ext cx="2928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59" name="Google Shape;559;p42"/>
          <p:cNvSpPr/>
          <p:nvPr/>
        </p:nvSpPr>
        <p:spPr>
          <a:xfrm>
            <a:off x="4216813" y="2039875"/>
            <a:ext cx="1708800" cy="9618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조회여부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2744938" y="2236313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키워드 검색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60" name="Google Shape;560;p42"/>
          <p:cNvCxnSpPr>
            <a:endCxn id="559" idx="1"/>
          </p:cNvCxnSpPr>
          <p:nvPr/>
        </p:nvCxnSpPr>
        <p:spPr>
          <a:xfrm flipH="1" rot="10800000">
            <a:off x="4048813" y="2520775"/>
            <a:ext cx="1680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3"/>
          <p:cNvSpPr/>
          <p:nvPr/>
        </p:nvSpPr>
        <p:spPr>
          <a:xfrm>
            <a:off x="-1834025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66" name="Google Shape;566;p43"/>
          <p:cNvSpPr txBox="1"/>
          <p:nvPr/>
        </p:nvSpPr>
        <p:spPr>
          <a:xfrm>
            <a:off x="311700" y="331150"/>
            <a:ext cx="85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513000" y="1320150"/>
            <a:ext cx="1303800" cy="546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목록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68" name="Google Shape;568;p43"/>
          <p:cNvCxnSpPr/>
          <p:nvPr/>
        </p:nvCxnSpPr>
        <p:spPr>
          <a:xfrm>
            <a:off x="1816800" y="2639950"/>
            <a:ext cx="669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43"/>
          <p:cNvSpPr/>
          <p:nvPr/>
        </p:nvSpPr>
        <p:spPr>
          <a:xfrm>
            <a:off x="2486700" y="2368300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키워드 입력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0" name="Google Shape;570;p43"/>
          <p:cNvSpPr txBox="1"/>
          <p:nvPr>
            <p:ph idx="1" type="body"/>
          </p:nvPr>
        </p:nvSpPr>
        <p:spPr>
          <a:xfrm>
            <a:off x="1649950" y="39490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1" name="Google Shape;571;p43"/>
          <p:cNvSpPr/>
          <p:nvPr/>
        </p:nvSpPr>
        <p:spPr>
          <a:xfrm>
            <a:off x="513000" y="2368300"/>
            <a:ext cx="1303800" cy="546300"/>
          </a:xfrm>
          <a:prstGeom prst="roundRect">
            <a:avLst>
              <a:gd fmla="val 8761" name="adj"/>
            </a:avLst>
          </a:prstGeom>
          <a:solidFill>
            <a:srgbClr val="00FFFF">
              <a:alpha val="51270"/>
            </a:srgbClr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글 종류 선택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72" name="Google Shape;572;p43"/>
          <p:cNvCxnSpPr>
            <a:stCxn id="567" idx="2"/>
            <a:endCxn id="571" idx="0"/>
          </p:cNvCxnSpPr>
          <p:nvPr/>
        </p:nvCxnSpPr>
        <p:spPr>
          <a:xfrm>
            <a:off x="1164900" y="186645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43"/>
          <p:cNvSpPr/>
          <p:nvPr/>
        </p:nvSpPr>
        <p:spPr>
          <a:xfrm>
            <a:off x="6322038" y="2425762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가능?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74" name="Google Shape;574;p43"/>
          <p:cNvCxnSpPr/>
          <p:nvPr/>
        </p:nvCxnSpPr>
        <p:spPr>
          <a:xfrm>
            <a:off x="5816978" y="2637299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43"/>
          <p:cNvSpPr/>
          <p:nvPr/>
        </p:nvSpPr>
        <p:spPr>
          <a:xfrm>
            <a:off x="7810076" y="2424588"/>
            <a:ext cx="9831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조회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76" name="Google Shape;576;p43"/>
          <p:cNvCxnSpPr/>
          <p:nvPr/>
        </p:nvCxnSpPr>
        <p:spPr>
          <a:xfrm>
            <a:off x="7305016" y="2638473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43"/>
          <p:cNvSpPr/>
          <p:nvPr/>
        </p:nvSpPr>
        <p:spPr>
          <a:xfrm>
            <a:off x="5221651" y="3620974"/>
            <a:ext cx="983100" cy="427800"/>
          </a:xfrm>
          <a:prstGeom prst="roundRect">
            <a:avLst>
              <a:gd fmla="val 876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 불가?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78" name="Google Shape;578;p43"/>
          <p:cNvCxnSpPr>
            <a:endCxn id="577" idx="1"/>
          </p:cNvCxnSpPr>
          <p:nvPr/>
        </p:nvCxnSpPr>
        <p:spPr>
          <a:xfrm flipH="1" rot="-5400000">
            <a:off x="4729201" y="3342424"/>
            <a:ext cx="715500" cy="26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43"/>
          <p:cNvCxnSpPr/>
          <p:nvPr/>
        </p:nvCxnSpPr>
        <p:spPr>
          <a:xfrm>
            <a:off x="6204629" y="3833685"/>
            <a:ext cx="505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43"/>
          <p:cNvSpPr/>
          <p:nvPr/>
        </p:nvSpPr>
        <p:spPr>
          <a:xfrm>
            <a:off x="4108163" y="2157575"/>
            <a:ext cx="1708800" cy="961800"/>
          </a:xfrm>
          <a:prstGeom prst="diamond">
            <a:avLst/>
          </a:prstGeom>
          <a:solidFill>
            <a:srgbClr val="FFFF00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조회여부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81" name="Google Shape;581;p43"/>
          <p:cNvCxnSpPr>
            <a:endCxn id="580" idx="1"/>
          </p:cNvCxnSpPr>
          <p:nvPr/>
        </p:nvCxnSpPr>
        <p:spPr>
          <a:xfrm>
            <a:off x="3790463" y="2637275"/>
            <a:ext cx="3177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2" name="Google Shape;582;p43"/>
          <p:cNvSpPr/>
          <p:nvPr/>
        </p:nvSpPr>
        <p:spPr>
          <a:xfrm>
            <a:off x="6709825" y="3620975"/>
            <a:ext cx="2179800" cy="4278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등록된 게시글이 없습니다.</a:t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ko" sz="5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차 구현화면</a:t>
            </a:r>
            <a:endParaRPr b="1" sz="5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5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93" name="Google Shape;593;p45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4" name="Google Shape;594;p45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1.import로 java의 class 가져오기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배열형 객체에 상품목록 추가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 상품목록을 테이블형식으로 표시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4. 구매하기버튼을 통해 결제페이지로 해당 데이터 전송및 이동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95" name="Google Shape;5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675" y="489175"/>
            <a:ext cx="3849049" cy="49188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6" name="Google Shape;59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675" y="1253639"/>
            <a:ext cx="3849048" cy="9784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7" name="Google Shape;59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675" y="2522856"/>
            <a:ext cx="3849049" cy="12899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8" name="Google Shape;59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8676" y="4103539"/>
            <a:ext cx="3849049" cy="59521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9" name="Google Shape;59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425" y="1200275"/>
            <a:ext cx="4265751" cy="1868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0" name="Google Shape;600;p45"/>
          <p:cNvSpPr txBox="1"/>
          <p:nvPr>
            <p:ph idx="1" type="body"/>
          </p:nvPr>
        </p:nvSpPr>
        <p:spPr>
          <a:xfrm>
            <a:off x="2241150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1" name="Google Shape;601;p45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45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3" name="Google Shape;603;p45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4" name="Google Shape;604;p45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5" name="Google Shape;605;p45"/>
          <p:cNvSpPr txBox="1"/>
          <p:nvPr/>
        </p:nvSpPr>
        <p:spPr>
          <a:xfrm>
            <a:off x="4520975" y="15799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6" name="Google Shape;606;p45"/>
          <p:cNvSpPr txBox="1"/>
          <p:nvPr/>
        </p:nvSpPr>
        <p:spPr>
          <a:xfrm>
            <a:off x="4520975" y="29242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7" name="Google Shape;607;p45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④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09" name="Google Shape;609;p45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6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15" name="Google Shape;615;p46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6" name="Google Shape;616;p46"/>
          <p:cNvSpPr/>
          <p:nvPr/>
        </p:nvSpPr>
        <p:spPr>
          <a:xfrm>
            <a:off x="221475" y="4254550"/>
            <a:ext cx="4163700" cy="8175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 상품정보 불러오기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결제 방법 선택하기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 결제하기 - 구매내역페이지로 이동(해당내용 전송) 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7" name="Google Shape;617;p46"/>
          <p:cNvSpPr txBox="1"/>
          <p:nvPr>
            <p:ph idx="1" type="body"/>
          </p:nvPr>
        </p:nvSpPr>
        <p:spPr>
          <a:xfrm>
            <a:off x="2241150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8" name="Google Shape;618;p46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1" name="Google Shape;621;p46"/>
          <p:cNvSpPr txBox="1"/>
          <p:nvPr/>
        </p:nvSpPr>
        <p:spPr>
          <a:xfrm>
            <a:off x="4520975" y="12515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22" name="Google Shape;622;p46"/>
          <p:cNvSpPr txBox="1"/>
          <p:nvPr/>
        </p:nvSpPr>
        <p:spPr>
          <a:xfrm>
            <a:off x="4520975" y="31597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23" name="Google Shape;623;p46"/>
          <p:cNvSpPr txBox="1"/>
          <p:nvPr/>
        </p:nvSpPr>
        <p:spPr>
          <a:xfrm>
            <a:off x="4520975" y="4491238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624" name="Google Shape;6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75" y="1200265"/>
            <a:ext cx="4163700" cy="297263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5" name="Google Shape;62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675" y="402850"/>
            <a:ext cx="3680531" cy="23130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6" name="Google Shape;62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2675" y="2756475"/>
            <a:ext cx="3680525" cy="174772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7" name="Google Shape;62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9763" y="4544800"/>
            <a:ext cx="2924819" cy="445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8" name="Google Shape;628;p46"/>
          <p:cNvSpPr/>
          <p:nvPr/>
        </p:nvSpPr>
        <p:spPr>
          <a:xfrm>
            <a:off x="311700" y="42545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30" name="Google Shape;630;p46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7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6" name="Google Shape;636;p47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37" name="Google Shape;637;p47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8" name="Google Shape;638;p47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</a:t>
            </a:r>
            <a:r>
              <a:rPr b="1" lang="ko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속성 설정하여 검색시 해당 상품 정보 출력</a:t>
            </a:r>
            <a:endParaRPr b="1" sz="8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1" lang="ko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jsp 조건문을 사용해 특정 키워드 입력시 해당 행사 상품 출력하기</a:t>
            </a:r>
            <a:endParaRPr b="1" sz="8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9" name="Google Shape;639;p47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0" name="Google Shape;640;p47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3" name="Google Shape;643;p47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44" name="Google Shape;644;p47"/>
          <p:cNvSpPr txBox="1"/>
          <p:nvPr/>
        </p:nvSpPr>
        <p:spPr>
          <a:xfrm>
            <a:off x="4520975" y="15799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45" name="Google Shape;645;p47"/>
          <p:cNvSpPr txBox="1"/>
          <p:nvPr/>
        </p:nvSpPr>
        <p:spPr>
          <a:xfrm>
            <a:off x="4520975" y="29242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647" name="Google Shape;6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0275"/>
            <a:ext cx="4390800" cy="16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150" y="964700"/>
            <a:ext cx="4213032" cy="48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9" name="Google Shape;64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5775" y="2055450"/>
            <a:ext cx="4181200" cy="28258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0" name="Google Shape;650;p47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8"/>
          <p:cNvSpPr/>
          <p:nvPr/>
        </p:nvSpPr>
        <p:spPr>
          <a:xfrm>
            <a:off x="4656775" y="1399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56" name="Google Shape;656;p48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7" name="Google Shape;657;p48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1.jsp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switch문으로 케이스 찾기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db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에 있는 테이블 가져오기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 상품목록을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배열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테이블형식으로 표시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4. 검색버튼을 통해 데이터 조회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62" name="Google Shape;662;p48"/>
          <p:cNvSpPr txBox="1"/>
          <p:nvPr/>
        </p:nvSpPr>
        <p:spPr>
          <a:xfrm>
            <a:off x="4520975" y="15799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63" name="Google Shape;663;p48"/>
          <p:cNvSpPr txBox="1"/>
          <p:nvPr/>
        </p:nvSpPr>
        <p:spPr>
          <a:xfrm>
            <a:off x="4520975" y="29242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64" name="Google Shape;664;p48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665" name="Google Shape;6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75" y="1200275"/>
            <a:ext cx="4163700" cy="19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675" y="387250"/>
            <a:ext cx="4086225" cy="148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7" name="Google Shape;66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0150" y="2335500"/>
            <a:ext cx="3395051" cy="25525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668" name="Google Shape;668;p48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9" name="Google Shape;669;p48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0" name="Google Shape;670;p48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ko" sz="5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차 구현화면</a:t>
            </a:r>
            <a:endParaRPr b="1" sz="5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0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81" name="Google Shape;681;p50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82" name="Google Shape;682;p50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 가격범위를 최소값과 최대값으로 설정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자바스크립트로 체크박스 클릭후, 버튼 클릭시 해당 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가격대(요청값) 전송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3" name="Google Shape;683;p50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4" name="Google Shape;684;p50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5" name="Google Shape;685;p50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6" name="Google Shape;686;p50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87" name="Google Shape;687;p50"/>
          <p:cNvSpPr txBox="1"/>
          <p:nvPr/>
        </p:nvSpPr>
        <p:spPr>
          <a:xfrm>
            <a:off x="4542375" y="2463138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88" name="Google Shape;688;p50"/>
          <p:cNvSpPr txBox="1"/>
          <p:nvPr/>
        </p:nvSpPr>
        <p:spPr>
          <a:xfrm>
            <a:off x="4520975" y="2119038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89" name="Google Shape;689;p50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690" name="Google Shape;69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75" y="1273325"/>
            <a:ext cx="4382895" cy="14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449" y="383450"/>
            <a:ext cx="3219300" cy="196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6025" y="2571750"/>
            <a:ext cx="3628750" cy="21106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693" name="Google Shape;693;p50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94" name="Google Shape;694;p50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5" name="Google Shape;695;p50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1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1" name="Google Shape;701;p51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02" name="Google Shape;702;p51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03" name="Google Shape;703;p51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1.sql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테이블과 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vo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클래스를 만들고, 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dao로 키워드와 가격을 입력시 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상품 정보 출력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4" name="Google Shape;704;p51"/>
          <p:cNvSpPr/>
          <p:nvPr/>
        </p:nvSpPr>
        <p:spPr>
          <a:xfrm>
            <a:off x="3193550" y="682350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p51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6" name="Google Shape;706;p51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7" name="Google Shape;707;p51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4572000" y="2227638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09" name="Google Shape;709;p51"/>
          <p:cNvSpPr txBox="1"/>
          <p:nvPr/>
        </p:nvSpPr>
        <p:spPr>
          <a:xfrm>
            <a:off x="4520975" y="1974188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10" name="Google Shape;710;p51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11" name="Google Shape;7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25" y="958200"/>
            <a:ext cx="3577599" cy="21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500" y="2661892"/>
            <a:ext cx="3401425" cy="205398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13" name="Google Shape;71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496" y="458575"/>
            <a:ext cx="3260904" cy="2106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714" name="Google Shape;714;p51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5" name="Google Shape;715;p51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2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21" name="Google Shape;721;p52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22" name="Google Shape;722;p52"/>
          <p:cNvSpPr/>
          <p:nvPr/>
        </p:nvSpPr>
        <p:spPr>
          <a:xfrm>
            <a:off x="170450" y="3268325"/>
            <a:ext cx="4163700" cy="17220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1.sql로 테이블 생성, 유저코드 primary key 설정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유저코드- 1000부터 1씩 증가하는 시퀀스 생성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 해당 테이블의 형식에 맞는 데이터 추가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3" name="Google Shape;723;p52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4" name="Google Shape;724;p52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5" name="Google Shape;725;p52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6" name="Google Shape;726;p52"/>
          <p:cNvSpPr txBox="1"/>
          <p:nvPr/>
        </p:nvSpPr>
        <p:spPr>
          <a:xfrm>
            <a:off x="4520975" y="792650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27" name="Google Shape;727;p52"/>
          <p:cNvSpPr txBox="1"/>
          <p:nvPr/>
        </p:nvSpPr>
        <p:spPr>
          <a:xfrm>
            <a:off x="4520975" y="19170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28" name="Google Shape;728;p52"/>
          <p:cNvSpPr txBox="1"/>
          <p:nvPr/>
        </p:nvSpPr>
        <p:spPr>
          <a:xfrm>
            <a:off x="4520975" y="34654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29" name="Google Shape;7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575" y="593300"/>
            <a:ext cx="4066876" cy="924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0" name="Google Shape;73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163" y="1917075"/>
            <a:ext cx="3347700" cy="85536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31" name="Google Shape;731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0575" y="3286937"/>
            <a:ext cx="4066875" cy="10783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32" name="Google Shape;732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25" y="1200275"/>
            <a:ext cx="4391350" cy="1189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3" name="Google Shape;733;p52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34" name="Google Shape;734;p52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5" name="Google Shape;735;p52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3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41" name="Google Shape;741;p53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42" name="Google Shape;742;p53"/>
          <p:cNvSpPr/>
          <p:nvPr/>
        </p:nvSpPr>
        <p:spPr>
          <a:xfrm>
            <a:off x="170450" y="3709625"/>
            <a:ext cx="4163700" cy="12807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1.name을 입력값으로 설정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name을 통해 name=”입력값”인 지점의 데이터 가져오기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해당 지점의 데이터를 get데이터이름()으로 가져와서 테이블 만들기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3" name="Google Shape;743;p53"/>
          <p:cNvSpPr/>
          <p:nvPr/>
        </p:nvSpPr>
        <p:spPr>
          <a:xfrm>
            <a:off x="3147825" y="68832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4" name="Google Shape;744;p53"/>
          <p:cNvSpPr/>
          <p:nvPr/>
        </p:nvSpPr>
        <p:spPr>
          <a:xfrm>
            <a:off x="383675" y="32683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5" name="Google Shape;745;p53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6" name="Google Shape;746;p53"/>
          <p:cNvSpPr txBox="1"/>
          <p:nvPr/>
        </p:nvSpPr>
        <p:spPr>
          <a:xfrm>
            <a:off x="4520975" y="792650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47" name="Google Shape;747;p53"/>
          <p:cNvSpPr txBox="1"/>
          <p:nvPr/>
        </p:nvSpPr>
        <p:spPr>
          <a:xfrm>
            <a:off x="4520975" y="32683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48" name="Google Shape;7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62" y="923821"/>
            <a:ext cx="4066875" cy="272577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9" name="Google Shape;74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2250" y="522667"/>
            <a:ext cx="4008050" cy="186850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50" name="Google Shape;75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2250" y="2435775"/>
            <a:ext cx="4008049" cy="2452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751" name="Google Shape;751;p53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52" name="Google Shape;752;p53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3" name="Google Shape;753;p53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4"/>
          <p:cNvSpPr/>
          <p:nvPr/>
        </p:nvSpPr>
        <p:spPr>
          <a:xfrm>
            <a:off x="4656750" y="126725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59" name="Google Shape;759;p54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60" name="Google Shape;760;p54"/>
          <p:cNvSpPr/>
          <p:nvPr/>
        </p:nvSpPr>
        <p:spPr>
          <a:xfrm>
            <a:off x="170450" y="3709625"/>
            <a:ext cx="4163700" cy="12807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1.sql과 java를 연동하고 해당 java에서 insertCud를 통해 데이터 입력, 등록- 성공시 등록성공 alert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form을 통해 받을 데이터 설정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 usercode는 시퀀스를 통해 자동 다음값을 입력하여 primary key 오류 없게 처리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1" name="Google Shape;761;p54"/>
          <p:cNvSpPr/>
          <p:nvPr/>
        </p:nvSpPr>
        <p:spPr>
          <a:xfrm>
            <a:off x="3147825" y="68832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2" name="Google Shape;762;p54"/>
          <p:cNvSpPr/>
          <p:nvPr/>
        </p:nvSpPr>
        <p:spPr>
          <a:xfrm>
            <a:off x="383675" y="34741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4" name="Google Shape;764;p54"/>
          <p:cNvSpPr txBox="1"/>
          <p:nvPr/>
        </p:nvSpPr>
        <p:spPr>
          <a:xfrm>
            <a:off x="4520975" y="1073100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65" name="Google Shape;76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900" y="546975"/>
            <a:ext cx="4048550" cy="156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66" name="Google Shape;76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38" y="923825"/>
            <a:ext cx="3236727" cy="20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563" y="2966650"/>
            <a:ext cx="2311475" cy="76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3888" y="2339875"/>
            <a:ext cx="4048551" cy="16585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769" name="Google Shape;769;p54"/>
          <p:cNvSpPr txBox="1"/>
          <p:nvPr/>
        </p:nvSpPr>
        <p:spPr>
          <a:xfrm>
            <a:off x="4520975" y="27860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70" name="Google Shape;770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3638" y="4225250"/>
            <a:ext cx="4029075" cy="34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771" name="Google Shape;771;p54"/>
          <p:cNvSpPr txBox="1"/>
          <p:nvPr/>
        </p:nvSpPr>
        <p:spPr>
          <a:xfrm>
            <a:off x="4520975" y="412106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72" name="Google Shape;772;p54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73" name="Google Shape;773;p54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4" name="Google Shape;774;p54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5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80" name="Google Shape;780;p55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81" name="Google Shape;781;p55"/>
          <p:cNvSpPr/>
          <p:nvPr/>
        </p:nvSpPr>
        <p:spPr>
          <a:xfrm>
            <a:off x="170450" y="3709625"/>
            <a:ext cx="4163700" cy="12807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1.sql에 등록된 데이터를 자바를 통해서 확인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sql에도 정상적으로 등록되었는지 확인해본결과 신규데이터 존재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2" name="Google Shape;782;p55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작성자:정기창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3147825" y="68832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4" name="Google Shape;784;p55"/>
          <p:cNvSpPr/>
          <p:nvPr/>
        </p:nvSpPr>
        <p:spPr>
          <a:xfrm>
            <a:off x="383675" y="34741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5" name="Google Shape;785;p55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6" name="Google Shape;786;p55"/>
          <p:cNvSpPr txBox="1"/>
          <p:nvPr/>
        </p:nvSpPr>
        <p:spPr>
          <a:xfrm>
            <a:off x="4520975" y="1073100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87" name="Google Shape;787;p55"/>
          <p:cNvSpPr txBox="1"/>
          <p:nvPr/>
        </p:nvSpPr>
        <p:spPr>
          <a:xfrm>
            <a:off x="4520975" y="35557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788" name="Google Shape;7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50" y="936338"/>
            <a:ext cx="4163701" cy="25252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9" name="Google Shape;78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676" y="428626"/>
            <a:ext cx="3967050" cy="23802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790" name="Google Shape;79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2674" y="3232787"/>
            <a:ext cx="3932050" cy="11837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791" name="Google Shape;791;p55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92" name="Google Shape;792;p55"/>
          <p:cNvSpPr txBox="1"/>
          <p:nvPr/>
        </p:nvSpPr>
        <p:spPr>
          <a:xfrm>
            <a:off x="311700" y="331150"/>
            <a:ext cx="128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6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98" name="Google Shape;798;p56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99" name="Google Shape;799;p56"/>
          <p:cNvSpPr/>
          <p:nvPr/>
        </p:nvSpPr>
        <p:spPr>
          <a:xfrm>
            <a:off x="170450" y="3756050"/>
            <a:ext cx="4163700" cy="12342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1.import로 java의 class 가져오기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입력창만들기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3.알림창 띄우기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0" name="Google Shape;800;p56"/>
          <p:cNvSpPr/>
          <p:nvPr/>
        </p:nvSpPr>
        <p:spPr>
          <a:xfrm>
            <a:off x="3244575" y="9647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1" name="Google Shape;801;p56"/>
          <p:cNvSpPr/>
          <p:nvPr/>
        </p:nvSpPr>
        <p:spPr>
          <a:xfrm>
            <a:off x="383675" y="34969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2" name="Google Shape;802;p56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3" name="Google Shape;803;p56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04" name="Google Shape;804;p56"/>
          <p:cNvSpPr txBox="1"/>
          <p:nvPr/>
        </p:nvSpPr>
        <p:spPr>
          <a:xfrm>
            <a:off x="4520975" y="15799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05" name="Google Shape;805;p56"/>
          <p:cNvSpPr txBox="1"/>
          <p:nvPr/>
        </p:nvSpPr>
        <p:spPr>
          <a:xfrm>
            <a:off x="4520975" y="29242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06" name="Google Shape;806;p56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807" name="Google Shape;8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50" y="940000"/>
            <a:ext cx="3360099" cy="193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670" y="1374800"/>
            <a:ext cx="3992799" cy="23812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09" name="Google Shape;80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1675" y="539650"/>
            <a:ext cx="3667125" cy="723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10" name="Google Shape;810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045" y="2878170"/>
            <a:ext cx="2700125" cy="8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6712" y="3781175"/>
            <a:ext cx="3964725" cy="1066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12" name="Google Shape;812;p56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13" name="Google Shape;813;p56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4" name="Google Shape;814;p56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20" name="Google Shape;820;p57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21" name="Google Shape;821;p57"/>
          <p:cNvSpPr/>
          <p:nvPr/>
        </p:nvSpPr>
        <p:spPr>
          <a:xfrm>
            <a:off x="170450" y="3793400"/>
            <a:ext cx="4163700" cy="11967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4.타입마다 널 값선언 후 문자타입으로 변경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5.객체 리스트 만들어 연결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2" name="Google Shape;822;p57"/>
          <p:cNvSpPr/>
          <p:nvPr/>
        </p:nvSpPr>
        <p:spPr>
          <a:xfrm>
            <a:off x="3396975" y="736175"/>
            <a:ext cx="11406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3" name="Google Shape;823;p57"/>
          <p:cNvSpPr/>
          <p:nvPr/>
        </p:nvSpPr>
        <p:spPr>
          <a:xfrm>
            <a:off x="383675" y="35731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4" name="Google Shape;824;p57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5" name="Google Shape;825;p57"/>
          <p:cNvSpPr txBox="1"/>
          <p:nvPr/>
        </p:nvSpPr>
        <p:spPr>
          <a:xfrm>
            <a:off x="4520975" y="48917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④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26" name="Google Shape;826;p57"/>
          <p:cNvSpPr txBox="1"/>
          <p:nvPr/>
        </p:nvSpPr>
        <p:spPr>
          <a:xfrm>
            <a:off x="4520975" y="15799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27" name="Google Shape;827;p57"/>
          <p:cNvSpPr txBox="1"/>
          <p:nvPr/>
        </p:nvSpPr>
        <p:spPr>
          <a:xfrm>
            <a:off x="4520975" y="2924213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⑤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828" name="Google Shape;828;p57"/>
          <p:cNvSpPr txBox="1"/>
          <p:nvPr/>
        </p:nvSpPr>
        <p:spPr>
          <a:xfrm>
            <a:off x="4520975" y="4142525"/>
            <a:ext cx="461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829" name="Google Shape;82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675" y="3071775"/>
            <a:ext cx="3848100" cy="18584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30" name="Google Shape;83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900" y="387250"/>
            <a:ext cx="3771275" cy="26390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31" name="Google Shape;831;p57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32" name="Google Shape;832;p57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3" name="Google Shape;833;p57"/>
          <p:cNvSpPr txBox="1"/>
          <p:nvPr>
            <p:ph idx="1" type="body"/>
          </p:nvPr>
        </p:nvSpPr>
        <p:spPr>
          <a:xfrm>
            <a:off x="2032925" y="387250"/>
            <a:ext cx="31314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하인솔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34" name="Google Shape;83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50" y="863800"/>
            <a:ext cx="3211200" cy="27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8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40" name="Google Shape;840;p58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41" name="Google Shape;841;p58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FAQ 리스트 화면 ] 데이터 베이스와 연동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2" name="Google Shape;842;p58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43" name="Google Shape;84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675" y="503900"/>
            <a:ext cx="2246000" cy="1076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44" name="Google Shape;844;p58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5" name="Google Shape;845;p58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46" name="Google Shape;84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6013"/>
            <a:ext cx="4009475" cy="2847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675" y="1721575"/>
            <a:ext cx="3393830" cy="30331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48" name="Google Shape;848;p58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49" name="Google Shape;849;p58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0" name="Google Shape;850;p58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9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56" name="Google Shape;856;p59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57" name="Google Shape;857;p59"/>
          <p:cNvSpPr/>
          <p:nvPr/>
        </p:nvSpPr>
        <p:spPr>
          <a:xfrm>
            <a:off x="170450" y="3902050"/>
            <a:ext cx="4163700" cy="10881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FAQ 리스트 화면 ]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옵션, 연동 진행중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8" name="Google Shape;858;p59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9" name="Google Shape;859;p59"/>
          <p:cNvSpPr/>
          <p:nvPr/>
        </p:nvSpPr>
        <p:spPr>
          <a:xfrm>
            <a:off x="383675" y="39020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0" name="Google Shape;860;p59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1" name="Google Shape;861;p59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62" name="Google Shape;8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300" y="628638"/>
            <a:ext cx="2501750" cy="13104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63" name="Google Shape;86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300" y="2050150"/>
            <a:ext cx="4070400" cy="4452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64" name="Google Shape;86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3775" y="1084464"/>
            <a:ext cx="3000375" cy="39878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65" name="Google Shape;865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775" y="1647185"/>
            <a:ext cx="3000375" cy="9429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866" name="Google Shape;866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1313" y="2754100"/>
            <a:ext cx="2985300" cy="91637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67" name="Google Shape;867;p59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68" name="Google Shape;868;p59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0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74" name="Google Shape;874;p60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75" name="Google Shape;875;p60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제품 만족도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]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연동 진행중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6" name="Google Shape;876;p60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7" name="Google Shape;877;p60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8" name="Google Shape;878;p60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김아랑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9" name="Google Shape;879;p60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80" name="Google Shape;8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50" y="1085988"/>
            <a:ext cx="4070401" cy="2892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675" y="595471"/>
            <a:ext cx="3796225" cy="20078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82" name="Google Shape;882;p60"/>
          <p:cNvSpPr txBox="1"/>
          <p:nvPr>
            <p:ph idx="1" type="body"/>
          </p:nvPr>
        </p:nvSpPr>
        <p:spPr>
          <a:xfrm>
            <a:off x="4978675" y="4405275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DB연동: 송지연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83" name="Google Shape;8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671" y="2760875"/>
            <a:ext cx="2763951" cy="15017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84" name="Google Shape;884;p60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885" name="Google Shape;885;p60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1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91" name="Google Shape;891;p61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92" name="Google Shape;892;p61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메인화면에서 로그인/회원가입 선택 INDEX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]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로그인창과 회원가입창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연동 함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3" name="Google Shape;893;p61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4" name="Google Shape;894;p61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5" name="Google Shape;895;p61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</a:t>
            </a: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97" name="Google Shape;8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75" y="1850400"/>
            <a:ext cx="2099512" cy="10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775" y="1963476"/>
            <a:ext cx="4390800" cy="12165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899" name="Google Shape;899;p61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00" name="Google Shape;900;p61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2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06" name="Google Shape;906;p62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07" name="Google Shape;907;p62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GS회원가입 화면 ] 연동 함 + 중복확인 수정 필요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8" name="Google Shape;908;p62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9" name="Google Shape;909;p62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0" name="Google Shape;910;p62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1" name="Google Shape;911;p62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12" name="Google Shape;91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175" y="639596"/>
            <a:ext cx="4070400" cy="396447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pic>
        <p:nvPicPr>
          <p:cNvPr id="913" name="Google Shape;91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016200"/>
            <a:ext cx="2443551" cy="303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62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15" name="Google Shape;915;p62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3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21" name="Google Shape;921;p63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22" name="Google Shape;922;p63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후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 ]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자동출력.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+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일반, 관리자 구분메시지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필요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3" name="Google Shape;923;p63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4" name="Google Shape;924;p63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5" name="Google Shape;925;p63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6" name="Google Shape;926;p63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27" name="Google Shape;92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75" y="1668175"/>
            <a:ext cx="319087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3950" y="2193000"/>
            <a:ext cx="3854449" cy="609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929" name="Google Shape;929;p63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30" name="Google Shape;930;p63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4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36" name="Google Shape;936;p64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37" name="Google Shape;937;p64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GS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연동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]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DB 저장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+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웹에서 확인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필요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8" name="Google Shape;938;p64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9" name="Google Shape;939;p64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0" name="Google Shape;940;p64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1" name="Google Shape;941;p64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42" name="Google Shape;94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016200"/>
            <a:ext cx="2442626" cy="303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875" y="3374174"/>
            <a:ext cx="3939899" cy="7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5351" y="2775051"/>
            <a:ext cx="2813625" cy="21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1450" y="438448"/>
            <a:ext cx="3269175" cy="2316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946" name="Google Shape;946;p64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47" name="Google Shape;947;p64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5"/>
          <p:cNvSpPr/>
          <p:nvPr/>
        </p:nvSpPr>
        <p:spPr>
          <a:xfrm>
            <a:off x="4656775" y="126750"/>
            <a:ext cx="4390800" cy="4863600"/>
          </a:xfrm>
          <a:prstGeom prst="roundRect">
            <a:avLst>
              <a:gd fmla="val 7629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53" name="Google Shape;953;p65"/>
          <p:cNvCxnSpPr/>
          <p:nvPr/>
        </p:nvCxnSpPr>
        <p:spPr>
          <a:xfrm>
            <a:off x="4520975" y="-9050"/>
            <a:ext cx="0" cy="51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54" name="Google Shape;954;p65"/>
          <p:cNvSpPr/>
          <p:nvPr/>
        </p:nvSpPr>
        <p:spPr>
          <a:xfrm>
            <a:off x="170450" y="4200825"/>
            <a:ext cx="4163700" cy="789300"/>
          </a:xfrm>
          <a:prstGeom prst="roundRect">
            <a:avLst>
              <a:gd fmla="val 8761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[ GS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 ]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클릭시 창전환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+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아이디/비밀번호 찾기 외 보완작업 필요</a:t>
            </a:r>
            <a:endParaRPr b="1"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5" name="Google Shape;955;p65"/>
          <p:cNvSpPr/>
          <p:nvPr/>
        </p:nvSpPr>
        <p:spPr>
          <a:xfrm>
            <a:off x="3193550" y="863800"/>
            <a:ext cx="1140600" cy="235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6" name="Google Shape;956;p65"/>
          <p:cNvSpPr/>
          <p:nvPr/>
        </p:nvSpPr>
        <p:spPr>
          <a:xfrm>
            <a:off x="383675" y="4200825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7" name="Google Shape;957;p65"/>
          <p:cNvSpPr txBox="1"/>
          <p:nvPr>
            <p:ph idx="1" type="body"/>
          </p:nvPr>
        </p:nvSpPr>
        <p:spPr>
          <a:xfrm>
            <a:off x="2022750" y="387250"/>
            <a:ext cx="1843200" cy="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작성자: 박지훈</a:t>
            </a:r>
            <a:endParaRPr b="1" sz="12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8" name="Google Shape;958;p65"/>
          <p:cNvSpPr/>
          <p:nvPr/>
        </p:nvSpPr>
        <p:spPr>
          <a:xfrm>
            <a:off x="4978675" y="126750"/>
            <a:ext cx="621300" cy="2355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endParaRPr b="1" sz="8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59" name="Google Shape;95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75" y="1016200"/>
            <a:ext cx="2138447" cy="303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975" y="1365638"/>
            <a:ext cx="4070400" cy="177743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</p:pic>
      <p:sp>
        <p:nvSpPr>
          <p:cNvPr id="961" name="Google Shape;961;p65"/>
          <p:cNvSpPr/>
          <p:nvPr/>
        </p:nvSpPr>
        <p:spPr>
          <a:xfrm>
            <a:off x="-1290800" y="291100"/>
            <a:ext cx="32193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62" name="Google Shape;962;p65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구현화면 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7" name="Google Shape;967;p66"/>
          <p:cNvGraphicFramePr/>
          <p:nvPr/>
        </p:nvGraphicFramePr>
        <p:xfrm>
          <a:off x="304200" y="1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{69167E62-B190-402E-94EE-F5B1F6E92B88}</a:tableStyleId>
              </a:tblPr>
              <a:tblGrid>
                <a:gridCol w="819950"/>
                <a:gridCol w="1655350"/>
                <a:gridCol w="799975"/>
                <a:gridCol w="1725975"/>
                <a:gridCol w="1861975"/>
                <a:gridCol w="1672400"/>
              </a:tblGrid>
              <a:tr h="450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방법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달성여부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정기창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결제창 배열데이터 대입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장바구니를 영수증처럼 보이고 싶었음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장바구니를 java array로 받아서 JSP로 데이터 입력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송지연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행사 상품 검색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가능하다 판단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jsp파일에서 조건문 사용해 키워드를 입력시 상품 정보 출력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하인솔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점포검색 및 재고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주위점포에  상품이 있다.없다.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jsp로 witch 문으로 사용하고 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매장리스트 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김아랑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기능분석 및 사이트분석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기반을 튼튼히 하고 싶어서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구글 슬라이드 사용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박지훈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 회원가입, DB 연동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8" name="Google Shape;968;p66"/>
          <p:cNvSpPr/>
          <p:nvPr/>
        </p:nvSpPr>
        <p:spPr>
          <a:xfrm>
            <a:off x="-412625" y="291100"/>
            <a:ext cx="40341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69" name="Google Shape;969;p66"/>
          <p:cNvSpPr txBox="1"/>
          <p:nvPr/>
        </p:nvSpPr>
        <p:spPr>
          <a:xfrm>
            <a:off x="304200" y="323500"/>
            <a:ext cx="327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1주차 셀프 피드백 (달성)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7"/>
          <p:cNvSpPr/>
          <p:nvPr/>
        </p:nvSpPr>
        <p:spPr>
          <a:xfrm>
            <a:off x="-1863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75" name="Google Shape;975;p67"/>
          <p:cNvSpPr txBox="1"/>
          <p:nvPr/>
        </p:nvSpPr>
        <p:spPr>
          <a:xfrm>
            <a:off x="0" y="323500"/>
            <a:ext cx="444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1주차 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셀프 피드백 (미달성)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976" name="Google Shape;976;p67"/>
          <p:cNvGraphicFramePr/>
          <p:nvPr/>
        </p:nvGraphicFramePr>
        <p:xfrm>
          <a:off x="304200" y="1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{69167E62-B190-402E-94EE-F5B1F6E92B88}</a:tableStyleId>
              </a:tblPr>
              <a:tblGrid>
                <a:gridCol w="819950"/>
                <a:gridCol w="1655350"/>
                <a:gridCol w="799975"/>
                <a:gridCol w="1725975"/>
                <a:gridCol w="1861975"/>
                <a:gridCol w="1672400"/>
              </a:tblGrid>
              <a:tr h="450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방법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달성여부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정기창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결제프로세스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반드시 필요한 단계라서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조건문으로 사용자의 카드번호와 비밀번호 일치시 결제진행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송지연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차별화 상품 검색(가격과 키워드를 입력하여 검색)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가능하다 판단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 조건문 사용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하인솔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점포검색 및 재고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주위점포에  상품이 있다.없다.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DB데이터 조회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김아랑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 구현 완료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요구사항 정의서 작성 후 진행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jsp사용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박지훈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 회원가입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pc 소프트웨어 이상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포맷 후 초기화 및 셋팅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미달성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7" name="Google Shape;977;p67"/>
          <p:cNvSpPr/>
          <p:nvPr/>
        </p:nvSpPr>
        <p:spPr>
          <a:xfrm>
            <a:off x="-186300" y="291100"/>
            <a:ext cx="40068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78" name="Google Shape;978;p67"/>
          <p:cNvSpPr txBox="1"/>
          <p:nvPr/>
        </p:nvSpPr>
        <p:spPr>
          <a:xfrm>
            <a:off x="304200" y="323500"/>
            <a:ext cx="329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주차 셀프 피드백 (미달성)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" name="Google Shape;983;p68"/>
          <p:cNvGraphicFramePr/>
          <p:nvPr/>
        </p:nvGraphicFramePr>
        <p:xfrm>
          <a:off x="304200" y="1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{69167E62-B190-402E-94EE-F5B1F6E92B88}</a:tableStyleId>
              </a:tblPr>
              <a:tblGrid>
                <a:gridCol w="819950"/>
                <a:gridCol w="1655350"/>
                <a:gridCol w="799975"/>
                <a:gridCol w="1725975"/>
                <a:gridCol w="1873275"/>
                <a:gridCol w="1661100"/>
              </a:tblGrid>
              <a:tr h="53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방법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달성여부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8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정기창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회원조회/</a:t>
                      </a: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등록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회원정보 조회후 분류하기 위해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jsp와 java를 연결해서 sql등록/수정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성공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하인솔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점포에 물건등록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점포에 물건이 들어오면 등록하기위해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 와 DB연결 및  객체 가져오기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성공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박지훈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 회원가입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로그인, 회원가입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css 및 jsp로 화면 구성 및 DB연동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성공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송지연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상품명과 가격을 입력시 출력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 기능 추가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dao, jstl 사용해서 검색시 해당 데이터 출력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성공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김아랑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FAQ 리스트 화면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베이스를 수정하면 반영되게 처리하고 싶어서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 연동 테이블 만들기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성공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4" name="Google Shape;984;p68"/>
          <p:cNvSpPr/>
          <p:nvPr/>
        </p:nvSpPr>
        <p:spPr>
          <a:xfrm>
            <a:off x="-412625" y="291100"/>
            <a:ext cx="40341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85" name="Google Shape;985;p68"/>
          <p:cNvSpPr txBox="1"/>
          <p:nvPr/>
        </p:nvSpPr>
        <p:spPr>
          <a:xfrm>
            <a:off x="304200" y="323500"/>
            <a:ext cx="327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2주차 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셀프 피드백 (달성)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9"/>
          <p:cNvSpPr/>
          <p:nvPr/>
        </p:nvSpPr>
        <p:spPr>
          <a:xfrm>
            <a:off x="-186300" y="291100"/>
            <a:ext cx="40068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91" name="Google Shape;991;p69"/>
          <p:cNvSpPr txBox="1"/>
          <p:nvPr/>
        </p:nvSpPr>
        <p:spPr>
          <a:xfrm>
            <a:off x="304200" y="323500"/>
            <a:ext cx="329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2주차 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셀프 피드백 (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미</a:t>
            </a: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달성)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992" name="Google Shape;992;p69"/>
          <p:cNvGraphicFramePr/>
          <p:nvPr/>
        </p:nvGraphicFramePr>
        <p:xfrm>
          <a:off x="304200" y="1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{69167E62-B190-402E-94EE-F5B1F6E92B88}</a:tableStyleId>
              </a:tblPr>
              <a:tblGrid>
                <a:gridCol w="819950"/>
                <a:gridCol w="1655350"/>
                <a:gridCol w="799975"/>
                <a:gridCol w="1725975"/>
                <a:gridCol w="1861975"/>
                <a:gridCol w="1672400"/>
              </a:tblGrid>
              <a:tr h="450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이유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방법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달성여부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정기창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가상신용카드 결제진행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결제프로세스를 만들기위해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보안용 테이블을 만들어서 join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미완성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하인솔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점포검색 및 재고 찾기 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지도위치 및 그 점포만 찾기위해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지도 위에 나타내기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미완성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박지훈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유효성 체크 및 회원관리창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아직 정확한 방법을 찾지 못함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참고할 자료들을 토대로 도전함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미완성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송지연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상품명 입력 + 체크박스 클릭시 해당 가격 범위내에서 검색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 기능 추가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자바스크립트과 jsp 연동 실패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미완성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김아랑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상품평 등록과 평균 별점 반영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시도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상품평을 쉽게 등록하고 확인하기 위해서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연동 실패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미완성</a:t>
                      </a:r>
                      <a:endParaRPr b="1"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0"/>
          <p:cNvSpPr/>
          <p:nvPr/>
        </p:nvSpPr>
        <p:spPr>
          <a:xfrm>
            <a:off x="-1634800" y="291100"/>
            <a:ext cx="3347700" cy="572700"/>
          </a:xfrm>
          <a:prstGeom prst="roundRect">
            <a:avLst>
              <a:gd fmla="val 26519" name="adj"/>
            </a:avLst>
          </a:prstGeom>
          <a:solidFill>
            <a:srgbClr val="434343"/>
          </a:solidFill>
          <a:ln>
            <a:noFill/>
          </a:ln>
          <a:effectLst>
            <a:outerShdw blurRad="142875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98" name="Google Shape;998;p70"/>
          <p:cNvSpPr txBox="1"/>
          <p:nvPr/>
        </p:nvSpPr>
        <p:spPr>
          <a:xfrm>
            <a:off x="311700" y="331150"/>
            <a:ext cx="246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회의록</a:t>
            </a:r>
            <a:endParaRPr b="1" sz="21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99" name="Google Shape;9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025" y="152400"/>
            <a:ext cx="384986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6200"/>
            <a:ext cx="4682226" cy="3843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